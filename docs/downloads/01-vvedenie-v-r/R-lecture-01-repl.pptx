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68"/>
  </p:normalViewPr>
  <p:slideViewPr>
    <p:cSldViewPr snapToGrid="0">
      <p:cViewPr varScale="1">
        <p:scale>
          <a:sx n="149" d="100"/>
          <a:sy n="149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Сегодня мы не будем сразу погружаться в синтаксис и запоминать команды. Сначала разберёмся, что представляет собой R, зачем существует отдельный язык для работы с данными и почему он до сих пор широко используется. Можно коротко спросить аудиторию, кому уже приходилось анализировать собственные данные, строить графики, считать статистику или писать код. Затем перейти: «Но сначала несколько слов обо мне».</a:t>
            </a:r>
          </a:p>
          <a:p>
            <a:endParaRPr/>
          </a:p>
          <a:p>
            <a:r>
              <a:t>[Sources]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Короткое знакомство примерно на полторы минуты. Назвать себя, профессиональную роль, должность и место работы; затем кратко упомянуть стаж, основное и дополнительное образование. Связать опыт с курсом: анализ биологических данных, программирование, автоматизация или воспроизводимые исследования. Не превращать слайд в полное резюме. Можно проговорить: «Я буду рассказывать о R не только как о наборе команд для статистики, а как о языке, на котором можно организовать весь процесс работы с данными».</a:t>
            </a:r>
          </a:p>
          <a:p>
            <a:endParaRPr/>
          </a:p>
          <a:p>
            <a:r>
              <a:t>[Sources]</a:t>
            </a:r>
          </a:p>
          <a:p>
            <a:r>
              <a:t>- No external sources; user-authored content or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разбирать методы подробно — это витрина возможностей. Сверху: многомерные клеточные данные и анализ выживаемости. Снизу: обычная статистическая графика и интерактивное приложение. Главная мысль: R подходит не для одного вида анализа; в нём можно подготовить данные, выполнить расчёты, построить график и дать пользователю интерактивный результат.</a:t>
            </a:r>
          </a:p>
          <a:p>
            <a:endParaRPr/>
          </a:p>
          <a:p>
            <a:r>
              <a:t>[Sources]</a:t>
            </a:r>
          </a:p>
          <a:p>
            <a:r>
              <a:t>- Retina UMAP, Orchestrating Single-Cell Analysis with Bioconductor, Figure 5.2: https://bioconductor.org/books/3.12/OSCA/overview.html</a:t>
            </a:r>
          </a:p>
          <a:p>
            <a:r>
              <a:t>- Michaelg2015, Kaplan-Meier curve for aml with confidence bounds, Wikimedia Commons, CC BY-SA 4.0: https://commons.wikimedia.org/wiki/File:Kaplan-Meier_curve_for_aml_with_confidence_bounds.svg</a:t>
            </a:r>
          </a:p>
          <a:p>
            <a:r>
              <a:t>- ggplot2 introduction: https://ggplot2.tidyverse.org/articles/ggplot2.html</a:t>
            </a:r>
          </a:p>
          <a:p>
            <a:r>
              <a:t>- Shiny getting started: https://shiny.posit.co/r/getstarted/shiny-basics/lesson1/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предварительная структура из 18 связок «лекция + практика». Темы 1–5 посвящены самому языку. Темы 6–10 — работе с данными и программированию. Тема 11 отдельно посвящена визуализации и EDA. Темы 12–16 образуют статистический блок и обязательно включают линейную регрессию. Темы 17–18 показывают, как превратить анализ в воспроизводимый документ Quarto или приложение Shiny. Акцент курса — R как язык для данных, а не биостатистика как самостоятельная дисциплина.</a:t>
            </a:r>
          </a:p>
          <a:p>
            <a:endParaRPr/>
          </a:p>
          <a:p>
            <a:r>
              <a:t>[Sources]</a:t>
            </a:r>
          </a:p>
          <a:p>
            <a:r>
              <a:t>- Official R logo: https://www.r-project.org/logo/Rlogo.svg</a:t>
            </a:r>
          </a:p>
          <a:p>
            <a:r>
              <a:t>- 18-topic course structure retrieved from the companion course-planning task and supplied by the instructor.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 — одновременно язык программирования и программная среда, в которой этот язык выполняется. Формулировки на слайде лучше проговаривать буквально: R можно использовать бесплатно; его исходный код открыт; пакеты расширяют возможности; сохранённый код позволяет повторить анализ. Самое важное различие: R выполняет программу, а RStudio — отдельная программа-интерфейс, которая помогает писать и запускать код R.</a:t>
            </a:r>
          </a:p>
          <a:p>
            <a:endParaRPr/>
          </a:p>
          <a:p>
            <a:r>
              <a:t>[Sources]</a:t>
            </a:r>
          </a:p>
          <a:p>
            <a:r>
              <a:t>- The R Project, What is R? https://www.r-project.org/about.html</a:t>
            </a:r>
          </a:p>
          <a:p>
            <a:r>
              <a:t>- Pedro J. Aphalo, Learn R: As a Language, 2nd ed., Chapter 2.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Здесь важно развести названия. R — независимый открытый проект, который поддерживает R Core; компания Posit не владеет языком. Компания называлась RStudio до 2022 года, затем стала Posit, чтобы название не связывало все её продукты только с одним языком. Само RStudio IDE сохранило имя и продолжает развиваться. Positron — новая среда, построенная на Code OSS, для пользователей R и Python; переход на неё возможен, но RStudio не объявлено закрытым. Posit Cloud — рабочая среда RStudio и Jupyter в браузере. Из Posit Cloud убрали публикацию приложений и документов; для этого сценария компания развивает Connect Cloud.</a:t>
            </a:r>
          </a:p>
          <a:p>
            <a:endParaRPr/>
          </a:p>
          <a:p>
            <a:r>
              <a:t>[Sources]</a:t>
            </a:r>
          </a:p>
          <a:p>
            <a:r>
              <a:t>- RStudio is now Posit: https://posit.co/blog/rstudio-is-now-posit</a:t>
            </a:r>
          </a:p>
          <a:p>
            <a:r>
              <a:t>- Positron migration guide: https://posit.co/blog/positron-migration-guides</a:t>
            </a:r>
          </a:p>
          <a:p>
            <a:r>
              <a:t>- Posit Cloud publishing sunset: https://docs.posit.co/cloud/whats_new/</a:t>
            </a:r>
          </a:p>
          <a:p>
            <a:r>
              <a:t>- Shiny: https://shiny.posit.co/</a:t>
            </a:r>
          </a:p>
          <a:p>
            <a:r>
              <a:t>- tidyverse: https://www.tidyverse.org/</a:t>
            </a:r>
          </a:p>
          <a:p>
            <a:r>
              <a:t>- RStudio logo supplied by Posit: https://posit.co/about/trademark-guidelines</a:t>
            </a:r>
          </a:p>
          <a:p>
            <a:r>
              <a:t>- Trademark notice: Posit, RStudio, and Shiny are trademarks of Posit Software, PBC, all rights reserved, and may be registered in the United States Patent and Trademark Office and in other countries.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Этот слайд нужен перед практикой, чтобы RStudio перестало быть абстрактным названием. R устанавливается отдельно и выполняет код. RStudio — интегрированная среда: слева обычно находятся редактор и консоль, справа — объекты, файлы, графики, пакеты и справка. На практике мы установим обе программы и начнём именно с интерфейса RStudio. Positron можно показать позднее как альтернативную современную среду, но для первого знакомства RStudio проще и привычнее.</a:t>
            </a:r>
          </a:p>
          <a:p>
            <a:endParaRPr/>
          </a:p>
          <a:p>
            <a:r>
              <a:t>[Sources]</a:t>
            </a:r>
          </a:p>
          <a:p>
            <a:r>
              <a:t>- RStudio IDE pane layout: https://docs.posit.co/ide/user/ide/guide/ui/ui-panes.html</a:t>
            </a:r>
          </a:p>
          <a:p>
            <a:r>
              <a:t>- RStudio logo supplied by Posit: https://posit.co/about/trademark-guidelines</a:t>
            </a:r>
          </a:p>
          <a:p>
            <a:r>
              <a:t>- Trademark notice: Posit, RStudio, and Shiny are trademarks of Posit Software, PBC, all rights reserved, and may be registered in the United States Patent and Trademark Office and in other countries.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история выглядит как развитие проекта, а не как три изолированные даты. R вырос из языка S, созданного в Bell Labs. Росс Ихака и Роберт Джентльмен начали R в Оклендском университете; затем проект стал публичным. В 1997 году оформилась команда R Core и появился CRAN, поэтому язык и пакеты смогли развиваться системно. В 2000 году вышла R 1.0.0, а в 2003 году была создана R Foundation. Главная мысль: R изначально строился вокруг интерактивного анализа данных и постепенно стал международной открытой экосистемой. Интересный факт: буква R — общая буква имён Ross и Robert, создателей языка.</a:t>
            </a:r>
          </a:p>
          <a:p>
            <a:endParaRPr/>
          </a:p>
          <a:p>
            <a:r>
              <a:t>[Sources]</a:t>
            </a:r>
          </a:p>
          <a:p>
            <a:r>
              <a:t>- Pedro J. Aphalo, Learn R: As a Language, 2nd ed., Chapter 2.</a:t>
            </a:r>
          </a:p>
          <a:p>
            <a:r>
              <a:t>- The R Project, Contributors: https://www.r-project.org/contributors.html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история выглядит как развитие проекта, а не как три изолированные даты. R вырос из языка S, созданного в Bell Labs. Росс Ихака и Роберт Джентльмен начали R в Оклендском университете; затем проект стал публичным. В 1997 году оформилась команда R Core и появился CRAN, поэтому язык и пакеты смогли развиваться системно. В 2000 году вышла R 1.0.0, а в 2003 году была создана R Foundation. Главная мысль: R изначально строился вокруг интерактивного анализа данных и постепенно стал международной открытой экосистемой.</a:t>
            </a:r>
          </a:p>
          <a:p>
            <a:endParaRPr/>
          </a:p>
          <a:p>
            <a:r>
              <a:t>[Sources]</a:t>
            </a:r>
          </a:p>
          <a:p>
            <a:r>
              <a:t>- Pedro J. Aphalo, Learn R: As a Language, 2nd ed., Chapter 2.</a:t>
            </a:r>
          </a:p>
          <a:p>
            <a:r>
              <a:t>- The R Project, Contributors: https://www.r-project.org/contributors.html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 состоянию на 30 августа 2026 года текущий официальный выпуск — R 4.6.1 от 24 июня 2026 года. Базовую систему поддерживает команда R Core. Общий ритм — одна новая версия x.y.0 весной и патчи x.y.z по мере необходимости. Для обычного пользователя достаточно знать о стабильном выпуске. r-patched содержит будущие исправления текущей версии, а r-devel — изменения для следующей версии. Этот слайд заменяет техническую схему разработки и даёт студентам практическую картину живого проекта.</a:t>
            </a:r>
          </a:p>
          <a:p>
            <a:endParaRPr/>
          </a:p>
          <a:p>
            <a:r>
              <a:t>[Sources]</a:t>
            </a:r>
          </a:p>
          <a:p>
            <a:r>
              <a:t>- R Developer Page: https://developer.r-project.org/</a:t>
            </a:r>
          </a:p>
          <a:p>
            <a:r>
              <a:t>- R FAQ, current release and development versions: https://cran.r-project.org/doc/FAQ/R-FAQ.html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Пакет — оформленное расширение R: функции, данные, документация, тесты и примеры. CRAN — основной универсальный репозиторий; здесь находятся, например, ggplot2, dplyr, tidyr и Seurat. Пакеты создают независимые авторы и проходят автоматические проверки, однако присутствие в CRAN само по себе не является независимой научной экспертизой метода. Bioconductor — специализированная биоинформатическая экосистема с согласованными выпусками, общей документацией и учебными данными; примеры — limma, edgeR и DESeq2. Важно: Seurat часто используют в биоинформатике, но распространяется он через CRAN, поэтому на слайде стоит слева.</a:t>
            </a:r>
          </a:p>
          <a:p>
            <a:endParaRPr/>
          </a:p>
          <a:p>
            <a:r>
              <a:t>[Sources]</a:t>
            </a:r>
          </a:p>
          <a:p>
            <a:r>
              <a:t>- CRAN: https://cran.r-project.org/</a:t>
            </a:r>
          </a:p>
          <a:p>
            <a:r>
              <a:t>- Bioconductor About: https://bioconductor.org/about/index.html</a:t>
            </a:r>
          </a:p>
          <a:p>
            <a:r>
              <a:t>- Bioconductor gray logo, CC BY-SA 4.0: https://bioconductor.org/about/logo/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Перечень не исчерпывающий: он показывает диапазон от исследовательского анализа до программных инструментов. В науке R сохраняет путь от данных до графиков для статьи. В биоинформатике он применяется для экспрессии генов, секвенирования и single-cell. В медицине и биостатистике — для сравнения групп, регрессии, диагностических показателей и анализа выживаемости. В бизнесе — для прогнозов, A/B-тестов и отчётов. Как язык программирования R позволяет писать функции и сценарии, создавать пакеты, обращаться к базам и сервисам, делать API и приложения. Rscript запускает файл с командами R без RStudio — например, на сервере или по расписанию. Через Quarto результаты можно публиковать как статьи, отчёты, презентации и сайты. Спросить аудиторию, какая область ближе их опыту.</a:t>
            </a:r>
          </a:p>
          <a:p>
            <a:endParaRPr/>
          </a:p>
          <a:p>
            <a:r>
              <a:t>[Sources]</a:t>
            </a:r>
          </a:p>
          <a:p>
            <a:r>
              <a:t>- The R Project, What is R? https://www.r-project.org/about.html</a:t>
            </a:r>
          </a:p>
          <a:p>
            <a:r>
              <a:t>- Bioconductor About: https://bioconductor.org/about/index.html</a:t>
            </a:r>
          </a:p>
          <a:p>
            <a:r>
              <a:t>- Shiny: https://shiny.posit.co/</a:t>
            </a:r>
          </a:p>
          <a:p>
            <a:r>
              <a:t>- Quarto: https://quarto.org/</a:t>
            </a:r>
          </a:p>
          <a:p>
            <a:r>
              <a:t>- R Core, Rscript: https://www.stat.ethz.ch/R-manual/R-devel/library/utils/html/Rscript.html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Переход к практике на следующий день. До занятия нужно только установить R, затем RStudio Desktop, и вступить в Telegram-беседу. Никаких команд и заданий на код не давать; дополнительные пакеты тоже пока не устанавливать. Важно проговорить, что R выполняет код, а RStudio является рабочей средой и требует предварительно установленного R. Если установка не удалась, студент может написать об этом в беседе или принести ноутбук на занятие. Заменить серый QR-заполнитель на ссылку преподавателя.</a:t>
            </a:r>
          </a:p>
          <a:p>
            <a:endParaRPr/>
          </a:p>
          <a:p>
            <a:r>
              <a:t>[Sources]</a:t>
            </a:r>
          </a:p>
          <a:p>
            <a:r>
              <a:t>- CRAN: https://cran.r-project.org/</a:t>
            </a:r>
          </a:p>
          <a:p>
            <a:r>
              <a:t>- Posit downloads: https://posit.co/downloads</a:t>
            </a:r>
          </a:p>
          <a:p>
            <a:r>
              <a:t>- RStudio prerequisites: https://docs.posit.co/ide/desktop-pro/getting_started/prerequisites.html</a:t>
            </a:r>
          </a:p>
          <a:p>
            <a:r>
              <a:t>- RStudio logo supplied by Posit: https://posit.co/about/trademark-guidelines</a:t>
            </a:r>
          </a:p>
          <a:p>
            <a:r>
              <a:t>- Trademark notice: Posit, RStudio, and Shiny are trademarks of Posit Software, PBC, all rights reserved, and may be registered in the United States Patent and Trademark Office and in other countries.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Сделать паузу и дать время сформулировать вопросы. Если аудитория молчит, спросить: что сегодня оказалось неожиданным; где им уже встречался R; какие собственные данные или задачи хотелось бы разобрать; остались ли вопросы о курсе или практике. Не переключать слайд сразу — он должен оставаться на экране до окончания обсуждения.</a:t>
            </a:r>
          </a:p>
          <a:p>
            <a:endParaRPr/>
          </a:p>
          <a:p>
            <a:r>
              <a:t>[Sources]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49683-811C-46FB-885B-2807614C41A7}"/>
              </a:ext>
            </a:extLst>
          </p:cNvPr>
          <p:cNvSpPr>
            <a:spLocks noGrp="1"/>
          </p:cNvSpPr>
          <p:nvPr/>
        </p:nvSpPr>
        <p:spPr>
          <a:xfrm>
            <a:off x="609600" y="980827"/>
            <a:ext cx="10959548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6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ECC77B2-59C5-4578-86A2-B71B1A734615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095500" cy="0"/>
          </a:xfrm>
          <a:prstGeom prst="line">
            <a:avLst/>
          </a:prstGeom>
          <a:noFill/>
          <a:ln w="66675">
            <a:solidFill>
              <a:srgbClr val="276DC3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2754D-F9AC-4712-B4FC-CC32FC7AAA9A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4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Язык R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45509" y="5124450"/>
            <a:ext cx="1425932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5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0F4826-428C-4C3A-B300-DCB850DB6572}"/>
              </a:ext>
            </a:extLst>
          </p:cNvPr>
          <p:cNvSpPr>
            <a:spLocks noGrp="1"/>
          </p:cNvSpPr>
          <p:nvPr/>
        </p:nvSpPr>
        <p:spPr>
          <a:xfrm>
            <a:off x="340212" y="20784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Обо мне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A68917-7675-4C98-844D-DEAC85785BF3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5B3474-0FF9-4AD6-AB3F-6BDDC13D54E1}"/>
              </a:ext>
            </a:extLst>
          </p:cNvPr>
          <p:cNvSpPr>
            <a:spLocks noGrp="1"/>
          </p:cNvSpPr>
          <p:nvPr/>
        </p:nvSpPr>
        <p:spPr>
          <a:xfrm>
            <a:off x="243120" y="963046"/>
            <a:ext cx="685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3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Стани</a:t>
            </a: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 Владислав</a:t>
            </a:r>
            <a:endParaRPr sz="33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60F5B-D730-4260-89C3-F68C0F5F17C9}"/>
              </a:ext>
            </a:extLst>
          </p:cNvPr>
          <p:cNvSpPr>
            <a:spLocks noGrp="1"/>
          </p:cNvSpPr>
          <p:nvPr/>
        </p:nvSpPr>
        <p:spPr>
          <a:xfrm>
            <a:off x="265517" y="1513543"/>
            <a:ext cx="765979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25" b="0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Преподаватель, биоинформатик, </a:t>
            </a:r>
            <a:r>
              <a:rPr sz="2025">
                <a:solidFill>
                  <a:srgbClr val="276DC3"/>
                </a:solidFill>
                <a:latin typeface="Arial"/>
                <a:ea typeface="Arial"/>
                <a:cs typeface="Arial"/>
              </a:rPr>
              <a:t>биостатистик</a:t>
            </a:r>
            <a:endParaRPr sz="2025" b="0" i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0C8D72-99A7-4233-892B-903DC3397314}"/>
              </a:ext>
            </a:extLst>
          </p:cNvPr>
          <p:cNvSpPr>
            <a:spLocks noGrp="1"/>
          </p:cNvSpPr>
          <p:nvPr/>
        </p:nvSpPr>
        <p:spPr>
          <a:xfrm>
            <a:off x="340212" y="4342889"/>
            <a:ext cx="7764980" cy="9645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Биоинформатика</a:t>
            </a:r>
            <a:r>
              <a:rPr sz="2800">
                <a:solidFill>
                  <a:srgbClr val="111111"/>
                </a:solidFill>
                <a:latin typeface="Arial"/>
                <a:ea typeface="Arial"/>
                <a:cs typeface="Arial"/>
              </a:rPr>
              <a:t> | </a:t>
            </a:r>
            <a:r>
              <a:rPr sz="2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Биостатистика </a:t>
            </a:r>
            <a:r>
              <a:rPr sz="2800">
                <a:solidFill>
                  <a:srgbClr val="111111"/>
                </a:solidFill>
                <a:latin typeface="Arial"/>
                <a:ea typeface="Arial"/>
                <a:cs typeface="Arial"/>
              </a:rPr>
              <a:t>| </a:t>
            </a:r>
            <a:r>
              <a:rPr sz="2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Язык 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0D988-78ED-4DAA-95DD-4D2A7FDE8480}"/>
              </a:ext>
            </a:extLst>
          </p:cNvPr>
          <p:cNvSpPr>
            <a:spLocks noGrp="1"/>
          </p:cNvSpPr>
          <p:nvPr/>
        </p:nvSpPr>
        <p:spPr>
          <a:xfrm>
            <a:off x="340212" y="5085697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Контакт: </a:t>
            </a:r>
            <a:r>
              <a:rPr sz="2400">
                <a:solidFill>
                  <a:srgbClr val="363636"/>
                </a:solidFill>
                <a:latin typeface="Arial"/>
                <a:ea typeface="Arial"/>
                <a:cs typeface="Arial"/>
              </a:rPr>
              <a:t>@</a:t>
            </a:r>
            <a:r>
              <a:rPr sz="24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vladissta | staninvladislav@mail.ru</a:t>
            </a:r>
          </a:p>
        </p:txBody>
      </p:sp>
      <p:pic>
        <p:nvPicPr>
          <p:cNvPr id="36" name="Picture 2"/>
          <p:cNvPicPr>
            <a:picLocks noChangeAspect="1"/>
          </p:cNvPicPr>
          <p:nvPr/>
        </p:nvPicPr>
        <p:blipFill rotWithShape="1">
          <a:blip r:embed="rId3"/>
          <a:srcRect l="29922" t="13263" r="30156" b="11647"/>
          <a:stretch/>
        </p:blipFill>
        <p:spPr>
          <a:xfrm>
            <a:off x="2026351" y="2726415"/>
            <a:ext cx="1187960" cy="1206556"/>
          </a:xfrm>
          <a:prstGeom prst="rect">
            <a:avLst/>
          </a:prstGeom>
        </p:spPr>
      </p:pic>
      <p:pic>
        <p:nvPicPr>
          <p:cNvPr id="37" name="Picture 4"/>
          <p:cNvPicPr>
            <a:picLocks noChangeAspect="1"/>
          </p:cNvPicPr>
          <p:nvPr/>
        </p:nvPicPr>
        <p:blipFill rotWithShape="1">
          <a:blip r:embed="rId4"/>
          <a:srcRect l="4159" t="10275" r="66305" b="9341"/>
          <a:stretch/>
        </p:blipFill>
        <p:spPr>
          <a:xfrm>
            <a:off x="265517" y="2629989"/>
            <a:ext cx="1367406" cy="1399411"/>
          </a:xfrm>
          <a:prstGeom prst="rect">
            <a:avLst/>
          </a:prstGeom>
        </p:spPr>
      </p:pic>
      <p:pic>
        <p:nvPicPr>
          <p:cNvPr id="38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737" y="2695785"/>
            <a:ext cx="1275930" cy="1275930"/>
          </a:xfrm>
          <a:prstGeom prst="rect">
            <a:avLst/>
          </a:prstGeom>
        </p:spPr>
      </p:pic>
      <p:pic>
        <p:nvPicPr>
          <p:cNvPr id="39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60898" y="2827699"/>
            <a:ext cx="2408067" cy="1003989"/>
          </a:xfrm>
          <a:prstGeom prst="rect">
            <a:avLst/>
          </a:prstGeom>
        </p:spPr>
      </p:pic>
      <p:pic>
        <p:nvPicPr>
          <p:cNvPr id="40" name="Picture 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403674" y="2679582"/>
            <a:ext cx="1275931" cy="1275931"/>
          </a:xfrm>
          <a:prstGeom prst="rect">
            <a:avLst/>
          </a:prstGeom>
        </p:spPr>
      </p:pic>
      <p:pic>
        <p:nvPicPr>
          <p:cNvPr id="41" name="Graphic 1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057" y="2311146"/>
            <a:ext cx="493067" cy="493067"/>
          </a:xfrm>
          <a:prstGeom prst="rect">
            <a:avLst/>
          </a:prstGeom>
        </p:spPr>
      </p:pic>
      <p:pic>
        <p:nvPicPr>
          <p:cNvPr id="42" name="Graphic 2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7341" y="2312481"/>
            <a:ext cx="450967" cy="450967"/>
          </a:xfrm>
          <a:prstGeom prst="rect">
            <a:avLst/>
          </a:prstGeom>
        </p:spPr>
      </p:pic>
      <p:pic>
        <p:nvPicPr>
          <p:cNvPr id="43" name="Graphic 27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2510" y="2357654"/>
            <a:ext cx="400050" cy="400050"/>
          </a:xfrm>
          <a:prstGeom prst="rect">
            <a:avLst/>
          </a:prstGeom>
        </p:spPr>
      </p:pic>
      <p:pic>
        <p:nvPicPr>
          <p:cNvPr id="44" name="Graphic 2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9245" y="2311144"/>
            <a:ext cx="493067" cy="493067"/>
          </a:xfrm>
          <a:prstGeom prst="rect">
            <a:avLst/>
          </a:prstGeom>
        </p:spPr>
      </p:pic>
      <p:pic>
        <p:nvPicPr>
          <p:cNvPr id="45" name="Graphic 29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1529" y="2312479"/>
            <a:ext cx="450967" cy="450967"/>
          </a:xfrm>
          <a:prstGeom prst="rect">
            <a:avLst/>
          </a:prstGeom>
        </p:spPr>
      </p:pic>
      <p:pic>
        <p:nvPicPr>
          <p:cNvPr id="46" name="Graphic 30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96698" y="2357652"/>
            <a:ext cx="400050" cy="400050"/>
          </a:xfrm>
          <a:prstGeom prst="rect">
            <a:avLst/>
          </a:prstGeom>
        </p:spPr>
      </p:pic>
      <p:pic>
        <p:nvPicPr>
          <p:cNvPr id="47" name="Graphic 3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5739" y="2311146"/>
            <a:ext cx="493067" cy="493067"/>
          </a:xfrm>
          <a:prstGeom prst="rect">
            <a:avLst/>
          </a:prstGeom>
        </p:spPr>
      </p:pic>
      <p:pic>
        <p:nvPicPr>
          <p:cNvPr id="48" name="Graphic 32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8023" y="2312481"/>
            <a:ext cx="450967" cy="450967"/>
          </a:xfrm>
          <a:prstGeom prst="rect">
            <a:avLst/>
          </a:prstGeom>
        </p:spPr>
      </p:pic>
      <p:pic>
        <p:nvPicPr>
          <p:cNvPr id="49" name="Graphic 3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7096" y="2351341"/>
            <a:ext cx="450967" cy="450967"/>
          </a:xfrm>
          <a:prstGeom prst="rect">
            <a:avLst/>
          </a:prstGeom>
        </p:spPr>
      </p:pic>
      <p:pic>
        <p:nvPicPr>
          <p:cNvPr id="50" name="Graphic 37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18426" y="2308505"/>
            <a:ext cx="450967" cy="450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AA3B5-4FE2-DFD6-AA27-3567CE13F2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747" y="1076969"/>
            <a:ext cx="3131140" cy="470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1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A6262A-C9F7-464F-955D-14108D6A4DF1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1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8720" y="598168"/>
            <a:ext cx="3982847" cy="28448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56BD6B-E74A-489B-93D2-624573F38BD7}"/>
              </a:ext>
            </a:extLst>
          </p:cNvPr>
          <p:cNvSpPr>
            <a:spLocks noGrp="1"/>
          </p:cNvSpPr>
          <p:nvPr/>
        </p:nvSpPr>
        <p:spPr>
          <a:xfrm>
            <a:off x="342900" y="82867"/>
            <a:ext cx="5219700" cy="710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Клеточные популяции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8A6C5C-D042-422F-BA9B-AF3DEE1B50B2}"/>
              </a:ext>
            </a:extLst>
          </p:cNvPr>
          <p:cNvSpPr>
            <a:spLocks noGrp="1"/>
          </p:cNvSpPr>
          <p:nvPr/>
        </p:nvSpPr>
        <p:spPr>
          <a:xfrm>
            <a:off x="6096000" y="127725"/>
            <a:ext cx="521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Выживаемость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52880" y="3840474"/>
            <a:ext cx="3820287" cy="272877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E5817A-DCBC-4168-B744-0374E0E2E9F3}"/>
              </a:ext>
            </a:extLst>
          </p:cNvPr>
          <p:cNvSpPr>
            <a:spLocks noGrp="1"/>
          </p:cNvSpPr>
          <p:nvPr/>
        </p:nvSpPr>
        <p:spPr>
          <a:xfrm>
            <a:off x="342900" y="3423284"/>
            <a:ext cx="521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Визуализация</a:t>
            </a:r>
          </a:p>
        </p:txBody>
      </p:sp>
      <p:pic>
        <p:nvPicPr>
          <p:cNvPr id="26" name="Picture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0149" y="3850000"/>
            <a:ext cx="5114783" cy="29032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C0684-D6C6-4745-91F5-32838BAA3C86}"/>
              </a:ext>
            </a:extLst>
          </p:cNvPr>
          <p:cNvSpPr>
            <a:spLocks noGrp="1"/>
          </p:cNvSpPr>
          <p:nvPr/>
        </p:nvSpPr>
        <p:spPr>
          <a:xfrm>
            <a:off x="6096000" y="3423284"/>
            <a:ext cx="521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Интерактивное п</a:t>
            </a:r>
            <a:r>
              <a:rPr sz="2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риложение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87FA32-F588-4CD5-A9F1-1086C8B504C5}"/>
              </a:ext>
            </a:extLst>
          </p:cNvPr>
          <p:cNvSpPr>
            <a:spLocks noGrp="1"/>
          </p:cNvSpPr>
          <p:nvPr/>
        </p:nvSpPr>
        <p:spPr>
          <a:xfrm>
            <a:off x="622744" y="66484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Источники: Bioconductor OSCA; Wikimedia Commons; ggplot2; Shiny</a:t>
            </a:r>
          </a:p>
        </p:txBody>
      </p:sp>
      <p:pic>
        <p:nvPicPr>
          <p:cNvPr id="29" name="Picture 2"/>
          <p:cNvPicPr>
            <a:picLocks noChangeAspect="1"/>
          </p:cNvPicPr>
          <p:nvPr/>
        </p:nvPicPr>
        <p:blipFill rotWithShape="1">
          <a:blip r:embed="rId6"/>
          <a:srcRect t="8722" b="24000"/>
          <a:stretch/>
        </p:blipFill>
        <p:spPr>
          <a:xfrm>
            <a:off x="6487033" y="627482"/>
            <a:ext cx="4581017" cy="277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3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8B2FCDC-025D-410F-A2F2-77178B64AF8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D54242-35D7-4199-BE5C-B7FE1ABB225B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9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1329" y="238125"/>
            <a:ext cx="786721" cy="60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6E8507-02A5-4B1B-AB10-BA846912238D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36B8C-E5FE-41A0-9AAC-61101ADBC632}"/>
              </a:ext>
            </a:extLst>
          </p:cNvPr>
          <p:cNvSpPr>
            <a:spLocks noGrp="1"/>
          </p:cNvSpPr>
          <p:nvPr/>
        </p:nvSpPr>
        <p:spPr>
          <a:xfrm>
            <a:off x="1371600" y="12954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Язык 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521E1E-0991-468A-926D-84E8B63C3E0A}"/>
              </a:ext>
            </a:extLst>
          </p:cNvPr>
          <p:cNvSpPr>
            <a:spLocks noGrp="1"/>
          </p:cNvSpPr>
          <p:nvPr/>
        </p:nvSpPr>
        <p:spPr>
          <a:xfrm>
            <a:off x="4991100" y="1343025"/>
            <a:ext cx="586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79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темы 1–5 · среда, синтаксис, векторы, код, списки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455165B-7CDB-45EC-B2E0-B53FE72E434D}"/>
              </a:ext>
            </a:extLst>
          </p:cNvPr>
          <p:cNvSpPr>
            <a:spLocks noGrp="1"/>
          </p:cNvSpPr>
          <p:nvPr/>
        </p:nvSpPr>
        <p:spPr>
          <a:xfrm>
            <a:off x="1371600" y="1962150"/>
            <a:ext cx="94869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EF52C-48D2-4FC5-B836-A161A1EA69C7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111C62-6CBF-44B8-AEDE-CAEC6A5E0EE3}"/>
              </a:ext>
            </a:extLst>
          </p:cNvPr>
          <p:cNvSpPr>
            <a:spLocks noGrp="1"/>
          </p:cNvSpPr>
          <p:nvPr/>
        </p:nvSpPr>
        <p:spPr>
          <a:xfrm>
            <a:off x="1371600" y="22098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 с данными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BD750-FE9D-4B8B-B6E7-E012AFE325E5}"/>
              </a:ext>
            </a:extLst>
          </p:cNvPr>
          <p:cNvSpPr>
            <a:spLocks noGrp="1"/>
          </p:cNvSpPr>
          <p:nvPr/>
        </p:nvSpPr>
        <p:spPr>
          <a:xfrm>
            <a:off x="4991100" y="2257425"/>
            <a:ext cx="586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79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темы 6–10 · таблицы, tidyverse, функции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072CE6C-CE5F-4B95-87F9-B1ECAD8107ED}"/>
              </a:ext>
            </a:extLst>
          </p:cNvPr>
          <p:cNvSpPr>
            <a:spLocks noGrp="1"/>
          </p:cNvSpPr>
          <p:nvPr/>
        </p:nvSpPr>
        <p:spPr>
          <a:xfrm>
            <a:off x="1371600" y="2876550"/>
            <a:ext cx="94869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F00C9-28B1-4FC0-9429-FADF6179D9BF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64EB99-3A0D-4814-8D65-34F83B22E560}"/>
              </a:ext>
            </a:extLst>
          </p:cNvPr>
          <p:cNvSpPr>
            <a:spLocks noGrp="1"/>
          </p:cNvSpPr>
          <p:nvPr/>
        </p:nvSpPr>
        <p:spPr>
          <a:xfrm>
            <a:off x="1371600" y="31242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Визуализация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4D6DDF-A778-48D8-A319-F835961353BF}"/>
              </a:ext>
            </a:extLst>
          </p:cNvPr>
          <p:cNvSpPr>
            <a:spLocks noGrp="1"/>
          </p:cNvSpPr>
          <p:nvPr/>
        </p:nvSpPr>
        <p:spPr>
          <a:xfrm>
            <a:off x="4991100" y="3171825"/>
            <a:ext cx="586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60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тема 11 · ggplot2 и EDA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F96A701-076C-4AD3-8DD8-641F8A6274B9}"/>
              </a:ext>
            </a:extLst>
          </p:cNvPr>
          <p:cNvSpPr>
            <a:spLocks noGrp="1"/>
          </p:cNvSpPr>
          <p:nvPr/>
        </p:nvSpPr>
        <p:spPr>
          <a:xfrm>
            <a:off x="1371600" y="3790950"/>
            <a:ext cx="94869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33A64-454A-4AC4-8A5A-896EE9E74829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55ECD-3C79-4B1A-AA19-F240D210CABC}"/>
              </a:ext>
            </a:extLst>
          </p:cNvPr>
          <p:cNvSpPr>
            <a:spLocks noGrp="1"/>
          </p:cNvSpPr>
          <p:nvPr/>
        </p:nvSpPr>
        <p:spPr>
          <a:xfrm>
            <a:off x="1371600" y="40386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Статистика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E283B4-AE30-48CE-8A78-B65BCD700ED3}"/>
              </a:ext>
            </a:extLst>
          </p:cNvPr>
          <p:cNvSpPr>
            <a:spLocks noGrp="1"/>
          </p:cNvSpPr>
          <p:nvPr/>
        </p:nvSpPr>
        <p:spPr>
          <a:xfrm>
            <a:off x="4991100" y="4086225"/>
            <a:ext cx="647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79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темы 12–16 · меры, вывод, тесты, корреляция, регрессия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0464A32-0F2F-47C4-8A89-959836280419}"/>
              </a:ext>
            </a:extLst>
          </p:cNvPr>
          <p:cNvSpPr>
            <a:spLocks noGrp="1"/>
          </p:cNvSpPr>
          <p:nvPr/>
        </p:nvSpPr>
        <p:spPr>
          <a:xfrm>
            <a:off x="1371600" y="4705350"/>
            <a:ext cx="94869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0F0243-D2D5-49E8-9107-5F9926309254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3A5705-F1D4-4B50-883F-097F3C02A6E3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227" lnSpcReduction="20000"/>
          </a:bodyPr>
          <a:lstStyle/>
          <a:p>
            <a:pPr algn="l">
              <a:buNone/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Воспроизводимые результаты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4F0DC4-CF6B-4763-A42B-D2E09F55C75F}"/>
              </a:ext>
            </a:extLst>
          </p:cNvPr>
          <p:cNvSpPr>
            <a:spLocks noGrp="1"/>
          </p:cNvSpPr>
          <p:nvPr/>
        </p:nvSpPr>
        <p:spPr>
          <a:xfrm>
            <a:off x="4991100" y="5000625"/>
            <a:ext cx="5143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темы 17–18 · Quarto и Shiny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684335-3302-422E-8262-600874DDD065}"/>
              </a:ext>
            </a:extLst>
          </p:cNvPr>
          <p:cNvSpPr>
            <a:spLocks noGrp="1"/>
          </p:cNvSpPr>
          <p:nvPr/>
        </p:nvSpPr>
        <p:spPr>
          <a:xfrm>
            <a:off x="609600" y="5905499"/>
            <a:ext cx="10972800" cy="609598"/>
          </a:xfrm>
          <a:prstGeom prst="rect">
            <a:avLst/>
          </a:prstGeom>
          <a:solidFill>
            <a:srgbClr val="EAF2F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8AC891-A07A-4CE5-AF1E-848A1A4B5861}"/>
              </a:ext>
            </a:extLst>
          </p:cNvPr>
          <p:cNvSpPr>
            <a:spLocks noGrp="1"/>
          </p:cNvSpPr>
          <p:nvPr/>
        </p:nvSpPr>
        <p:spPr>
          <a:xfrm>
            <a:off x="800100" y="5981699"/>
            <a:ext cx="10591800" cy="533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0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Предварительный план: состав и порядок тем могут измениться!</a:t>
            </a:r>
          </a:p>
        </p:txBody>
      </p:sp>
    </p:spTree>
    <p:extLst>
      <p:ext uri="{BB962C8B-B14F-4D97-AF65-F5344CB8AC3E}">
        <p14:creationId xmlns:p14="http://schemas.microsoft.com/office/powerpoint/2010/main" val="38218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022B85D-1452-49C2-B468-A829AB467FD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Язык 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D27A4-0B65-44AA-A7F0-428C49F64D39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AE4C1-0F36-4AE1-94E1-E2F2D653758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– язык программирования</a:t>
            </a:r>
          </a:p>
          <a:p>
            <a:pPr algn="l">
              <a:buNone/>
              <a:defRPr sz="32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 среда вычислений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64E89A1-AA48-4BBB-B40F-94FE7A5D361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714500" cy="0"/>
          </a:xfrm>
          <a:prstGeom prst="line">
            <a:avLst/>
          </a:prstGeom>
          <a:noFill/>
          <a:ln w="57150">
            <a:solidFill>
              <a:srgbClr val="276DC3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F02820-ECDE-4659-AD7C-D74DB055AAE6}"/>
              </a:ext>
            </a:extLst>
          </p:cNvPr>
          <p:cNvSpPr>
            <a:spLocks noGrp="1"/>
          </p:cNvSpPr>
          <p:nvPr/>
        </p:nvSpPr>
        <p:spPr>
          <a:xfrm>
            <a:off x="609600" y="29571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solidFill>
              <a:srgbClr val="276DC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67AB8-D51A-4567-AF8D-6D255C76639D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 с данными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F364A9-1E5F-4A96-8607-314F5E3607C3}"/>
              </a:ext>
            </a:extLst>
          </p:cNvPr>
          <p:cNvSpPr>
            <a:spLocks noGrp="1"/>
          </p:cNvSpPr>
          <p:nvPr/>
        </p:nvSpPr>
        <p:spPr>
          <a:xfrm>
            <a:off x="4074796" y="2800350"/>
            <a:ext cx="400240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подготовка, расчёты, графики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546C83-5DB2-4213-BDAD-A7C87646E209}"/>
              </a:ext>
            </a:extLst>
          </p:cNvPr>
          <p:cNvSpPr>
            <a:spLocks noGrp="1"/>
          </p:cNvSpPr>
          <p:nvPr/>
        </p:nvSpPr>
        <p:spPr>
          <a:xfrm>
            <a:off x="609600" y="35858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solidFill>
              <a:srgbClr val="276DC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B5F83-3413-471D-B82A-37B7C621F069}"/>
              </a:ext>
            </a:extLst>
          </p:cNvPr>
          <p:cNvSpPr>
            <a:spLocks noGrp="1"/>
          </p:cNvSpPr>
          <p:nvPr/>
        </p:nvSpPr>
        <p:spPr>
          <a:xfrm>
            <a:off x="933450" y="3405505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Бесплатный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ECA77-006C-4F38-A0FB-20E8C16ED8E6}"/>
              </a:ext>
            </a:extLst>
          </p:cNvPr>
          <p:cNvSpPr>
            <a:spLocks noGrp="1"/>
          </p:cNvSpPr>
          <p:nvPr/>
        </p:nvSpPr>
        <p:spPr>
          <a:xfrm>
            <a:off x="4074796" y="3429000"/>
            <a:ext cx="400240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без платной лицензии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47D85F-3A93-43FF-82C4-06263E26ABF4}"/>
              </a:ext>
            </a:extLst>
          </p:cNvPr>
          <p:cNvSpPr>
            <a:spLocks noGrp="1"/>
          </p:cNvSpPr>
          <p:nvPr/>
        </p:nvSpPr>
        <p:spPr>
          <a:xfrm>
            <a:off x="609600" y="42144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solidFill>
              <a:srgbClr val="276DC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11E55-E84B-43A4-A2C9-4BAA8E12578B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Открытый код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C9925-969F-4A4E-A7EA-40F2201DAACF}"/>
              </a:ext>
            </a:extLst>
          </p:cNvPr>
          <p:cNvSpPr>
            <a:spLocks noGrp="1"/>
          </p:cNvSpPr>
          <p:nvPr/>
        </p:nvSpPr>
        <p:spPr>
          <a:xfrm>
            <a:off x="4074796" y="4057650"/>
            <a:ext cx="400240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исходный код доступен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91E2EB-0612-4C12-8EBB-50298699005E}"/>
              </a:ext>
            </a:extLst>
          </p:cNvPr>
          <p:cNvSpPr>
            <a:spLocks noGrp="1"/>
          </p:cNvSpPr>
          <p:nvPr/>
        </p:nvSpPr>
        <p:spPr>
          <a:xfrm>
            <a:off x="609600" y="48431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solidFill>
              <a:srgbClr val="276DC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66958C-656F-4612-853C-DBD20F6C9628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Пакеты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FEAFCD-30FE-4F29-82F8-8180ACD0E457}"/>
              </a:ext>
            </a:extLst>
          </p:cNvPr>
          <p:cNvSpPr>
            <a:spLocks noGrp="1"/>
          </p:cNvSpPr>
          <p:nvPr/>
        </p:nvSpPr>
        <p:spPr>
          <a:xfrm>
            <a:off x="4074796" y="4686300"/>
            <a:ext cx="400240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добавляют инструменты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D056F19-6544-4CA4-8A1A-EFDB57412D2B}"/>
              </a:ext>
            </a:extLst>
          </p:cNvPr>
          <p:cNvSpPr>
            <a:spLocks noGrp="1"/>
          </p:cNvSpPr>
          <p:nvPr/>
        </p:nvSpPr>
        <p:spPr>
          <a:xfrm>
            <a:off x="609600" y="54717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solidFill>
              <a:srgbClr val="276DC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CC2F6-8C65-498B-A87A-33618B396CE2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63F7CE-817D-495F-B6D1-530638BFF4F2}"/>
              </a:ext>
            </a:extLst>
          </p:cNvPr>
          <p:cNvSpPr>
            <a:spLocks noGrp="1"/>
          </p:cNvSpPr>
          <p:nvPr/>
        </p:nvSpPr>
        <p:spPr>
          <a:xfrm>
            <a:off x="4074796" y="5314950"/>
            <a:ext cx="400240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анализ можно повторить</a:t>
            </a:r>
          </a:p>
        </p:txBody>
      </p:sp>
      <p:pic>
        <p:nvPicPr>
          <p:cNvPr id="52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28686" y="1390650"/>
            <a:ext cx="2335578" cy="180975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3C92084-A995-4F7F-8CE9-F76F2BDC3EFA}"/>
              </a:ext>
            </a:extLst>
          </p:cNvPr>
          <p:cNvSpPr>
            <a:spLocks noGrp="1"/>
          </p:cNvSpPr>
          <p:nvPr/>
        </p:nvSpPr>
        <p:spPr>
          <a:xfrm>
            <a:off x="8210552" y="3562351"/>
            <a:ext cx="3586480" cy="876300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F66841-FF84-49C1-8D5A-D5A483B9BA56}"/>
              </a:ext>
            </a:extLst>
          </p:cNvPr>
          <p:cNvSpPr>
            <a:spLocks noGrp="1"/>
          </p:cNvSpPr>
          <p:nvPr/>
        </p:nvSpPr>
        <p:spPr>
          <a:xfrm>
            <a:off x="8458202" y="3691256"/>
            <a:ext cx="812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55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0A1BBA-5EEC-4461-AD13-274DD393EB18}"/>
              </a:ext>
            </a:extLst>
          </p:cNvPr>
          <p:cNvSpPr>
            <a:spLocks noGrp="1"/>
          </p:cNvSpPr>
          <p:nvPr/>
        </p:nvSpPr>
        <p:spPr>
          <a:xfrm>
            <a:off x="9038592" y="3790951"/>
            <a:ext cx="27584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выполняет код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85BE5B-15E9-4E00-8E58-A785E062DAC5}"/>
              </a:ext>
            </a:extLst>
          </p:cNvPr>
          <p:cNvSpPr>
            <a:spLocks noGrp="1"/>
          </p:cNvSpPr>
          <p:nvPr/>
        </p:nvSpPr>
        <p:spPr>
          <a:xfrm>
            <a:off x="9743442" y="4533901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285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2B9E06F-0F04-4073-A64F-BD285CE57693}"/>
              </a:ext>
            </a:extLst>
          </p:cNvPr>
          <p:cNvSpPr>
            <a:spLocks noGrp="1"/>
          </p:cNvSpPr>
          <p:nvPr/>
        </p:nvSpPr>
        <p:spPr>
          <a:xfrm>
            <a:off x="8210552" y="5095875"/>
            <a:ext cx="3586480" cy="9239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8" name="Picture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10272" y="5306365"/>
            <a:ext cx="552450" cy="53246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848E08B-9529-4BD8-A95C-3EA397152E6A}"/>
              </a:ext>
            </a:extLst>
          </p:cNvPr>
          <p:cNvSpPr>
            <a:spLocks noGrp="1"/>
          </p:cNvSpPr>
          <p:nvPr/>
        </p:nvSpPr>
        <p:spPr>
          <a:xfrm>
            <a:off x="9362442" y="5200651"/>
            <a:ext cx="1924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RStudio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866373-B589-4D5B-86F0-13DD61DC20B2}"/>
              </a:ext>
            </a:extLst>
          </p:cNvPr>
          <p:cNvSpPr>
            <a:spLocks noGrp="1"/>
          </p:cNvSpPr>
          <p:nvPr/>
        </p:nvSpPr>
        <p:spPr>
          <a:xfrm>
            <a:off x="9362442" y="5562601"/>
            <a:ext cx="243459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помогает работать c 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7868E5-6F49-45C1-8535-21AA95542B3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Источник: The R Project — What is R?</a:t>
            </a:r>
          </a:p>
        </p:txBody>
      </p:sp>
    </p:spTree>
    <p:extLst>
      <p:ext uri="{BB962C8B-B14F-4D97-AF65-F5344CB8AC3E}">
        <p14:creationId xmlns:p14="http://schemas.microsoft.com/office/powerpoint/2010/main" val="3315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F831715-D220-43EC-B950-5461AF3F8DC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4B3FC-1A77-49CD-842F-593C5388A4C5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CDB4BE-708A-4124-BFE9-F7EEA72FEC3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1104900"/>
          </a:xfrm>
          <a:prstGeom prst="roundRect">
            <a:avLst>
              <a:gd name="adj" fmla="val 6897"/>
            </a:avLst>
          </a:prstGeom>
          <a:solidFill>
            <a:srgbClr val="EAF2FB"/>
          </a:solidFill>
          <a:ln w="9525">
            <a:solidFill>
              <a:srgbClr val="276DC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3C09D-17BB-4B3E-B9D3-781025A6B745}"/>
              </a:ext>
            </a:extLst>
          </p:cNvPr>
          <p:cNvSpPr>
            <a:spLocks noGrp="1"/>
          </p:cNvSpPr>
          <p:nvPr/>
        </p:nvSpPr>
        <p:spPr>
          <a:xfrm>
            <a:off x="704850" y="1340485"/>
            <a:ext cx="485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7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Компания RStudio → Posit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C97FA-EB25-4975-A9FC-2CE9627A646B}"/>
              </a:ext>
            </a:extLst>
          </p:cNvPr>
          <p:cNvSpPr>
            <a:spLocks noGrp="1"/>
          </p:cNvSpPr>
          <p:nvPr/>
        </p:nvSpPr>
        <p:spPr>
          <a:xfrm>
            <a:off x="6300470" y="1390650"/>
            <a:ext cx="518668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/>
          <a:p>
            <a:pPr algn="l"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2022 · "название" стало шире: R + Python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94CA1-0417-4A66-BEF4-7E85FB6EB311}"/>
              </a:ext>
            </a:extLst>
          </p:cNvPr>
          <p:cNvSpPr>
            <a:spLocks noGrp="1"/>
          </p:cNvSpPr>
          <p:nvPr/>
        </p:nvSpPr>
        <p:spPr>
          <a:xfrm>
            <a:off x="704850" y="1816735"/>
            <a:ext cx="1019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RStudio сохранило имя. R не принадлежит Posit.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6DD8BA-DE7D-49F6-B121-F5B173BC7444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46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894471"/>
            <a:ext cx="990600" cy="9547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D35EE2-E1C0-4B4F-B07D-77D08AE4DC6C}"/>
              </a:ext>
            </a:extLst>
          </p:cNvPr>
          <p:cNvSpPr>
            <a:spLocks noGrp="1"/>
          </p:cNvSpPr>
          <p:nvPr/>
        </p:nvSpPr>
        <p:spPr>
          <a:xfrm>
            <a:off x="1924050" y="29527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00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RStudio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4FA529-589B-4B2C-A542-C1693D754B01}"/>
              </a:ext>
            </a:extLst>
          </p:cNvPr>
          <p:cNvSpPr>
            <a:spLocks noGrp="1"/>
          </p:cNvSpPr>
          <p:nvPr/>
        </p:nvSpPr>
        <p:spPr>
          <a:xfrm>
            <a:off x="1924050" y="3429000"/>
            <a:ext cx="1847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IDE для 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43A321-3387-45F6-9BB3-2B1FBFFC363B}"/>
              </a:ext>
            </a:extLst>
          </p:cNvPr>
          <p:cNvSpPr>
            <a:spLocks noGrp="1"/>
          </p:cNvSpPr>
          <p:nvPr/>
        </p:nvSpPr>
        <p:spPr>
          <a:xfrm>
            <a:off x="4324350" y="26670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50" name="Picture 4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95800" y="3272508"/>
            <a:ext cx="990600" cy="1986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1A7DDB-2318-42E0-8BFA-5F80071A0C48}"/>
              </a:ext>
            </a:extLst>
          </p:cNvPr>
          <p:cNvSpPr>
            <a:spLocks noGrp="1"/>
          </p:cNvSpPr>
          <p:nvPr/>
        </p:nvSpPr>
        <p:spPr>
          <a:xfrm>
            <a:off x="5638800" y="29527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00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Positron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A9841B-B87D-4FF2-9EF2-5B22BB865580}"/>
              </a:ext>
            </a:extLst>
          </p:cNvPr>
          <p:cNvSpPr>
            <a:spLocks noGrp="1"/>
          </p:cNvSpPr>
          <p:nvPr/>
        </p:nvSpPr>
        <p:spPr>
          <a:xfrm>
            <a:off x="5638800" y="3429000"/>
            <a:ext cx="2247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811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IDE для R и Python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48FDF9-6603-4BA7-B34A-CE2C5A51E4B3}"/>
              </a:ext>
            </a:extLst>
          </p:cNvPr>
          <p:cNvSpPr>
            <a:spLocks noGrp="1"/>
          </p:cNvSpPr>
          <p:nvPr/>
        </p:nvSpPr>
        <p:spPr>
          <a:xfrm>
            <a:off x="8039100" y="26670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54" name="Picture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0550" y="2876550"/>
            <a:ext cx="990600" cy="9906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8C15DAE-8022-445D-97E7-BF97B5FE8AD4}"/>
              </a:ext>
            </a:extLst>
          </p:cNvPr>
          <p:cNvSpPr>
            <a:spLocks noGrp="1"/>
          </p:cNvSpPr>
          <p:nvPr/>
        </p:nvSpPr>
        <p:spPr>
          <a:xfrm>
            <a:off x="9353550" y="29527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00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 Cloud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ACF092-E754-4135-8363-AFA89D75777A}"/>
              </a:ext>
            </a:extLst>
          </p:cNvPr>
          <p:cNvSpPr>
            <a:spLocks noGrp="1"/>
          </p:cNvSpPr>
          <p:nvPr/>
        </p:nvSpPr>
        <p:spPr>
          <a:xfrm>
            <a:off x="9353550" y="3429000"/>
            <a:ext cx="1847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428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среда в браузере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0B3635-6538-4475-AC1D-EFD197EDDF2B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58" name="Picture 5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81050" y="4629150"/>
            <a:ext cx="990600" cy="990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8228EF1-F687-4761-A273-70E9AACB91A0}"/>
              </a:ext>
            </a:extLst>
          </p:cNvPr>
          <p:cNvSpPr>
            <a:spLocks noGrp="1"/>
          </p:cNvSpPr>
          <p:nvPr/>
        </p:nvSpPr>
        <p:spPr>
          <a:xfrm>
            <a:off x="1924050" y="47053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00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tidyverse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76E4B7-6546-40EE-A333-D8966824F8A9}"/>
              </a:ext>
            </a:extLst>
          </p:cNvPr>
          <p:cNvSpPr>
            <a:spLocks noGrp="1"/>
          </p:cNvSpPr>
          <p:nvPr/>
        </p:nvSpPr>
        <p:spPr>
          <a:xfrm>
            <a:off x="1924050" y="5181600"/>
            <a:ext cx="1847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278F4AC-5161-41D6-95D9-CD8B217BDE68}"/>
              </a:ext>
            </a:extLst>
          </p:cNvPr>
          <p:cNvSpPr>
            <a:spLocks noGrp="1"/>
          </p:cNvSpPr>
          <p:nvPr/>
        </p:nvSpPr>
        <p:spPr>
          <a:xfrm>
            <a:off x="4324350" y="44196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62" name="Picture 5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495800" y="4629150"/>
            <a:ext cx="990600" cy="9906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4171723-96A5-4CFB-916B-6B1028D36850}"/>
              </a:ext>
            </a:extLst>
          </p:cNvPr>
          <p:cNvSpPr>
            <a:spLocks noGrp="1"/>
          </p:cNvSpPr>
          <p:nvPr/>
        </p:nvSpPr>
        <p:spPr>
          <a:xfrm>
            <a:off x="5638800" y="47053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00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Shiny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347DC-4685-4B76-826A-398795FD7316}"/>
              </a:ext>
            </a:extLst>
          </p:cNvPr>
          <p:cNvSpPr>
            <a:spLocks noGrp="1"/>
          </p:cNvSpPr>
          <p:nvPr/>
        </p:nvSpPr>
        <p:spPr>
          <a:xfrm>
            <a:off x="5638800" y="5181600"/>
            <a:ext cx="1847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302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веб-приложения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3588A9D-9315-4621-ABC0-0AF9D27C3CFB}"/>
              </a:ext>
            </a:extLst>
          </p:cNvPr>
          <p:cNvSpPr>
            <a:spLocks noGrp="1"/>
          </p:cNvSpPr>
          <p:nvPr/>
        </p:nvSpPr>
        <p:spPr>
          <a:xfrm>
            <a:off x="8039100" y="4419600"/>
            <a:ext cx="33528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66" name="Picture 5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10550" y="4629150"/>
            <a:ext cx="990600" cy="9906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41D9805-EFC3-4330-BC06-FD4065F14992}"/>
              </a:ext>
            </a:extLst>
          </p:cNvPr>
          <p:cNvSpPr>
            <a:spLocks noGrp="1"/>
          </p:cNvSpPr>
          <p:nvPr/>
        </p:nvSpPr>
        <p:spPr>
          <a:xfrm>
            <a:off x="9353550" y="4705350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918" lnSpcReduction="10000"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Connect Cloud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AE9970-D74E-4807-965E-DE264D380BD7}"/>
              </a:ext>
            </a:extLst>
          </p:cNvPr>
          <p:cNvSpPr>
            <a:spLocks noGrp="1"/>
          </p:cNvSpPr>
          <p:nvPr/>
        </p:nvSpPr>
        <p:spPr>
          <a:xfrm>
            <a:off x="9353550" y="5181600"/>
            <a:ext cx="1847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AF61E7-1001-4909-8C5A-EDD58302D22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Источники: Posit, Quarto, tidyverse, Shiny</a:t>
            </a:r>
          </a:p>
        </p:txBody>
      </p:sp>
    </p:spTree>
    <p:extLst>
      <p:ext uri="{BB962C8B-B14F-4D97-AF65-F5344CB8AC3E}">
        <p14:creationId xmlns:p14="http://schemas.microsoft.com/office/powerpoint/2010/main" val="142208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5003E7-E034-4D8B-B38E-A1883348469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RStudio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B0ECF-4538-4F47-9575-27B2843F37E7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0432" y="1352550"/>
            <a:ext cx="1007986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C21E32-FF16-4749-8AE7-831CF61FD212}"/>
              </a:ext>
            </a:extLst>
          </p:cNvPr>
          <p:cNvSpPr>
            <a:spLocks noGrp="1"/>
          </p:cNvSpPr>
          <p:nvPr/>
        </p:nvSpPr>
        <p:spPr>
          <a:xfrm>
            <a:off x="1852930" y="1545907"/>
            <a:ext cx="40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285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pic>
        <p:nvPicPr>
          <p:cNvPr id="27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37879" y="1415737"/>
            <a:ext cx="781050" cy="75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A5E114-99B0-4DCB-9C4D-BAF7E0283767}"/>
              </a:ext>
            </a:extLst>
          </p:cNvPr>
          <p:cNvSpPr>
            <a:spLocks noGrp="1"/>
          </p:cNvSpPr>
          <p:nvPr/>
        </p:nvSpPr>
        <p:spPr>
          <a:xfrm>
            <a:off x="162560" y="2320927"/>
            <a:ext cx="44196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выполняет код.</a:t>
            </a:r>
          </a:p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RStudio организует работу.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4E576B5-829B-49F2-97B9-01C00E1450C9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524000" cy="0"/>
          </a:xfrm>
          <a:prstGeom prst="line">
            <a:avLst/>
          </a:prstGeom>
          <a:noFill/>
          <a:ln w="57150">
            <a:solidFill>
              <a:srgbClr val="276DC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500D42-5368-46C4-9D50-B299521C87F2}"/>
              </a:ext>
            </a:extLst>
          </p:cNvPr>
          <p:cNvSpPr>
            <a:spLocks noGrp="1"/>
          </p:cNvSpPr>
          <p:nvPr/>
        </p:nvSpPr>
        <p:spPr>
          <a:xfrm>
            <a:off x="419100" y="3772536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81" lnSpcReduction="10000"/>
          </a:bodyPr>
          <a:lstStyle/>
          <a:p>
            <a:pPr algn="ctr">
              <a:buNone/>
              <a:defRPr sz="20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Редактор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99E9B0-75CC-4BB8-BFB1-FBC2D28D2DD8}"/>
              </a:ext>
            </a:extLst>
          </p:cNvPr>
          <p:cNvSpPr>
            <a:spLocks noGrp="1"/>
          </p:cNvSpPr>
          <p:nvPr/>
        </p:nvSpPr>
        <p:spPr>
          <a:xfrm>
            <a:off x="2283261" y="3775388"/>
            <a:ext cx="255565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85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пишем и сохраняем код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1EDDE0-FAA6-419A-B76F-8CFFE9E8E05F}"/>
              </a:ext>
            </a:extLst>
          </p:cNvPr>
          <p:cNvSpPr>
            <a:spLocks noGrp="1"/>
          </p:cNvSpPr>
          <p:nvPr/>
        </p:nvSpPr>
        <p:spPr>
          <a:xfrm>
            <a:off x="386080" y="4426585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81" lnSpcReduction="10000"/>
          </a:bodyPr>
          <a:lstStyle/>
          <a:p>
            <a:pPr algn="ctr">
              <a:buNone/>
              <a:defRPr sz="20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Консоль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AE848-C4E3-464D-A8CA-0F59027BEA27}"/>
              </a:ext>
            </a:extLst>
          </p:cNvPr>
          <p:cNvSpPr>
            <a:spLocks noGrp="1"/>
          </p:cNvSpPr>
          <p:nvPr/>
        </p:nvSpPr>
        <p:spPr>
          <a:xfrm>
            <a:off x="2283260" y="4337363"/>
            <a:ext cx="21234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937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запускаем команды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83BDB-2AF7-42F3-87A8-07957153E6C0}"/>
              </a:ext>
            </a:extLst>
          </p:cNvPr>
          <p:cNvSpPr>
            <a:spLocks noGrp="1"/>
          </p:cNvSpPr>
          <p:nvPr/>
        </p:nvSpPr>
        <p:spPr>
          <a:xfrm>
            <a:off x="386080" y="4905375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81" lnSpcReduction="10000"/>
          </a:bodyPr>
          <a:lstStyle/>
          <a:p>
            <a:pPr algn="ctr">
              <a:buNone/>
              <a:defRPr sz="20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EBA700-E78A-4B56-AC3A-2B54C6CCD5E4}"/>
              </a:ext>
            </a:extLst>
          </p:cNvPr>
          <p:cNvSpPr>
            <a:spLocks noGrp="1"/>
          </p:cNvSpPr>
          <p:nvPr/>
        </p:nvSpPr>
        <p:spPr>
          <a:xfrm>
            <a:off x="2283260" y="4870763"/>
            <a:ext cx="21234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видим объекты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53712-C1C0-48EB-B0B1-00B2EAD541A7}"/>
              </a:ext>
            </a:extLst>
          </p:cNvPr>
          <p:cNvSpPr>
            <a:spLocks noGrp="1"/>
          </p:cNvSpPr>
          <p:nvPr/>
        </p:nvSpPr>
        <p:spPr>
          <a:xfrm>
            <a:off x="162560" y="5410200"/>
            <a:ext cx="21234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168" lnSpcReduction="10000"/>
          </a:bodyPr>
          <a:lstStyle/>
          <a:p>
            <a:pPr algn="ctr">
              <a:buNone/>
              <a:defRPr sz="20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Files · Plots · Help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B8A26-82B9-4A1C-88D0-89BF8CA16EB9}"/>
              </a:ext>
            </a:extLst>
          </p:cNvPr>
          <p:cNvSpPr>
            <a:spLocks noGrp="1"/>
          </p:cNvSpPr>
          <p:nvPr/>
        </p:nvSpPr>
        <p:spPr>
          <a:xfrm>
            <a:off x="2265480" y="5442263"/>
            <a:ext cx="252263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11" lnSpcReduction="10000"/>
          </a:bodyPr>
          <a:lstStyle/>
          <a:p>
            <a:pPr algn="l">
              <a:buNone/>
              <a:defRPr sz="17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файлы, графики, справка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0E9B4C-DB45-4B24-873A-491E82B43677}"/>
              </a:ext>
            </a:extLst>
          </p:cNvPr>
          <p:cNvSpPr>
            <a:spLocks noGrp="1"/>
          </p:cNvSpPr>
          <p:nvPr/>
        </p:nvSpPr>
        <p:spPr>
          <a:xfrm>
            <a:off x="5123817" y="1238250"/>
            <a:ext cx="6235063" cy="489585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39" name="Picture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680710" y="1352550"/>
            <a:ext cx="5190058" cy="46672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A2F7717-A324-4757-B8AE-B94AAE8C9DC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Источник: Posit — RStudio IDE User Guide</a:t>
            </a:r>
          </a:p>
        </p:txBody>
      </p:sp>
    </p:spTree>
    <p:extLst>
      <p:ext uri="{BB962C8B-B14F-4D97-AF65-F5344CB8AC3E}">
        <p14:creationId xmlns:p14="http://schemas.microsoft.com/office/powerpoint/2010/main" val="164454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04F17B0-F16B-4614-91BD-223E7069ACB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CA5BB-2123-4956-B4EC-9A6E8BFB7194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8667CE-5BC9-4226-9048-4C0B4E1780A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2DD9FF-4193-4B87-BEDF-C3B6EBCF1A59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1976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5E5EE-02FD-41CA-8DDD-0C9CD0A196F4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CB6E3B-7261-40F9-996D-3577859573E0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2895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55" lnSpcReduction="10000"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Bell Labs · </a:t>
            </a:r>
            <a:br/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язык для анализа данных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AD7EF04-F6A4-4354-BEA6-1F8D54F12CD6}"/>
              </a:ext>
            </a:extLst>
          </p:cNvPr>
          <p:cNvSpPr>
            <a:spLocks noGrp="1"/>
          </p:cNvSpPr>
          <p:nvPr/>
        </p:nvSpPr>
        <p:spPr>
          <a:xfrm>
            <a:off x="4324350" y="131445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EA812-F12F-4DF9-BC20-5C1D934B7BD4}"/>
              </a:ext>
            </a:extLst>
          </p:cNvPr>
          <p:cNvSpPr>
            <a:spLocks noGrp="1"/>
          </p:cNvSpPr>
          <p:nvPr/>
        </p:nvSpPr>
        <p:spPr>
          <a:xfrm>
            <a:off x="4533900" y="148590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1991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3FD42E-CB86-4E4F-B42B-035196CDD061}"/>
              </a:ext>
            </a:extLst>
          </p:cNvPr>
          <p:cNvSpPr>
            <a:spLocks noGrp="1"/>
          </p:cNvSpPr>
          <p:nvPr/>
        </p:nvSpPr>
        <p:spPr>
          <a:xfrm>
            <a:off x="4533900" y="2076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Начало 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83A57-C8E3-4F7D-A966-CF3B28104E3F}"/>
              </a:ext>
            </a:extLst>
          </p:cNvPr>
          <p:cNvSpPr>
            <a:spLocks noGrp="1"/>
          </p:cNvSpPr>
          <p:nvPr/>
        </p:nvSpPr>
        <p:spPr>
          <a:xfrm>
            <a:off x="4533899" y="2505074"/>
            <a:ext cx="299494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l">
              <a:buNone/>
              <a:defRPr sz="16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Росс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Ихака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и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Роберт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Джентльмен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; </a:t>
            </a:r>
            <a:br>
              <a:rPr lang="ru-RU"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</a:b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R </a:t>
            </a:r>
            <a:r>
              <a:rPr lang="ru-RU"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–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общая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буква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их</a:t>
            </a:r>
            <a:r>
              <a:rPr sz="160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имён</a:t>
            </a:r>
            <a:endParaRPr sz="160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93E7C8-8F15-46EC-9FB6-6F524CFC7D2D}"/>
              </a:ext>
            </a:extLst>
          </p:cNvPr>
          <p:cNvSpPr>
            <a:spLocks noGrp="1"/>
          </p:cNvSpPr>
          <p:nvPr/>
        </p:nvSpPr>
        <p:spPr>
          <a:xfrm>
            <a:off x="8039100" y="131445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57713D-42EF-4718-A162-6418C7C7E48F}"/>
              </a:ext>
            </a:extLst>
          </p:cNvPr>
          <p:cNvSpPr>
            <a:spLocks noGrp="1"/>
          </p:cNvSpPr>
          <p:nvPr/>
        </p:nvSpPr>
        <p:spPr>
          <a:xfrm>
            <a:off x="8248650" y="148590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1993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1EFDF3-92C1-4BC0-ABFD-065C56B819AA}"/>
              </a:ext>
            </a:extLst>
          </p:cNvPr>
          <p:cNvSpPr>
            <a:spLocks noGrp="1"/>
          </p:cNvSpPr>
          <p:nvPr/>
        </p:nvSpPr>
        <p:spPr>
          <a:xfrm>
            <a:off x="8248650" y="2076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Публичный 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4D332-5DC4-4931-808F-377C323D6CD4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895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55" lnSpcReduction="10000"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первое объявление для сообщества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276EBCD-3190-4340-A634-418ECCA2224C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6898B-5ABC-4F3F-9E2F-661A646558B2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1997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60976-7DD2-4E79-8223-F1B8F06626EA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Core и CRAN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F9EC10-87C8-47CC-80AB-5338A1B1BADF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2895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55" lnSpcReduction="10000"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команда языка и репозиторий пакетов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4B42E2B-5650-41C3-8B89-26CC25029A3F}"/>
              </a:ext>
            </a:extLst>
          </p:cNvPr>
          <p:cNvSpPr>
            <a:spLocks noGrp="1"/>
          </p:cNvSpPr>
          <p:nvPr/>
        </p:nvSpPr>
        <p:spPr>
          <a:xfrm>
            <a:off x="4324350" y="365760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EAF2FB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641D0-B7B5-4C3B-8D0B-20D1CBA63689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3880DE-F5E6-42BD-AC44-223C1B12285C}"/>
              </a:ext>
            </a:extLst>
          </p:cNvPr>
          <p:cNvSpPr>
            <a:spLocks noGrp="1"/>
          </p:cNvSpPr>
          <p:nvPr/>
        </p:nvSpPr>
        <p:spPr>
          <a:xfrm>
            <a:off x="4533900" y="4419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1.0.0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E99DB8-273B-4AA8-B2DB-0CB669F33320}"/>
              </a:ext>
            </a:extLst>
          </p:cNvPr>
          <p:cNvSpPr>
            <a:spLocks noGrp="1"/>
          </p:cNvSpPr>
          <p:nvPr/>
        </p:nvSpPr>
        <p:spPr>
          <a:xfrm>
            <a:off x="4533900" y="4914900"/>
            <a:ext cx="2895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65"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первая стабильная версия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CE39F36-EB6C-4114-A52D-CE827B943855}"/>
              </a:ext>
            </a:extLst>
          </p:cNvPr>
          <p:cNvSpPr>
            <a:spLocks noGrp="1"/>
          </p:cNvSpPr>
          <p:nvPr/>
        </p:nvSpPr>
        <p:spPr>
          <a:xfrm>
            <a:off x="8039100" y="3657600"/>
            <a:ext cx="335280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0F2398-B323-43F8-B5B5-81CAB7E75E55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112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2003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FFF95D-88AC-4C7F-8800-963F7DCD0859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73" lnSpcReduction="10000"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Foundation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E54FE0-3CEA-448F-B1CA-E38E9C0B91AB}"/>
              </a:ext>
            </a:extLst>
          </p:cNvPr>
          <p:cNvSpPr>
            <a:spLocks noGrp="1"/>
          </p:cNvSpPr>
          <p:nvPr/>
        </p:nvSpPr>
        <p:spPr>
          <a:xfrm>
            <a:off x="8248650" y="4914900"/>
            <a:ext cx="2895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55" lnSpcReduction="10000"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поддержка проекта и сообщества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E22126-6EBF-4AF2-9D2D-91E2E912856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Источники: Aphalo, Learn R: As a Language, гл. 2; The R Project</a:t>
            </a:r>
          </a:p>
        </p:txBody>
      </p:sp>
    </p:spTree>
    <p:extLst>
      <p:ext uri="{BB962C8B-B14F-4D97-AF65-F5344CB8AC3E}">
        <p14:creationId xmlns:p14="http://schemas.microsoft.com/office/powerpoint/2010/main" val="54346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268B597-9FA3-46DC-9210-D398F7033696}"/>
              </a:ext>
            </a:extLst>
          </p:cNvPr>
          <p:cNvSpPr>
            <a:spLocks noGrp="1"/>
          </p:cNvSpPr>
          <p:nvPr/>
        </p:nvSpPr>
        <p:spPr>
          <a:xfrm>
            <a:off x="704850" y="38100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Как выполняется код</a:t>
            </a:r>
          </a:p>
        </p:txBody>
      </p:sp>
      <p:sp>
        <p:nvSpPr>
          <p:cNvPr id="2" name="number">
            <a:extLst>
              <a:ext uri="{FF2B5EF4-FFF2-40B4-BE49-F238E27FC236}">
                <a16:creationId xmlns:a16="http://schemas.microsoft.com/office/drawing/2014/main" id="{D4C95450-7A2F-4369-971F-E397FD8DB63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363636"/>
                </a:solidFill>
              </a:defRPr>
            </a:pPr>
            <a:r>
              <a:rPr sz="1200" b="0">
                <a:solidFill>
                  <a:srgbClr val="363636"/>
                </a:solidFill>
              </a:rPr>
              <a:t>08a</a:t>
            </a:r>
          </a:p>
        </p:txBody>
      </p:sp>
      <p:sp>
        <p:nvSpPr>
          <p:cNvPr id="3" name="repl-head">
            <a:extLst>
              <a:ext uri="{FF2B5EF4-FFF2-40B4-BE49-F238E27FC236}">
                <a16:creationId xmlns:a16="http://schemas.microsoft.com/office/drawing/2014/main" id="{A87D374B-1BF9-4485-8DED-8301E3D1739F}"/>
              </a:ext>
            </a:extLst>
          </p:cNvPr>
          <p:cNvSpPr>
            <a:spLocks noGrp="1"/>
          </p:cNvSpPr>
          <p:nvPr/>
        </p:nvSpPr>
        <p:spPr>
          <a:xfrm>
            <a:off x="781050" y="1323975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76DC3"/>
                </a:solidFill>
              </a:defRPr>
            </a:pPr>
            <a:r>
              <a:rPr sz="3200" b="1" dirty="0">
                <a:solidFill>
                  <a:srgbClr val="276DC3"/>
                </a:solidFill>
              </a:rPr>
              <a:t>REPL</a:t>
            </a:r>
          </a:p>
        </p:txBody>
      </p:sp>
      <p:sp>
        <p:nvSpPr>
          <p:cNvPr id="4" name="repl-sub">
            <a:extLst>
              <a:ext uri="{FF2B5EF4-FFF2-40B4-BE49-F238E27FC236}">
                <a16:creationId xmlns:a16="http://schemas.microsoft.com/office/drawing/2014/main" id="{305102B0-FD72-46FD-9F34-25E005E6046B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2400" b="1" dirty="0" err="1">
                <a:solidFill>
                  <a:srgbClr val="111111"/>
                </a:solidFill>
              </a:rPr>
              <a:t>интерактивная</a:t>
            </a:r>
            <a:r>
              <a:rPr sz="2400" b="1" dirty="0">
                <a:solidFill>
                  <a:srgbClr val="111111"/>
                </a:solidFill>
              </a:rPr>
              <a:t> </a:t>
            </a:r>
            <a:r>
              <a:rPr sz="2400" b="1" dirty="0" err="1">
                <a:solidFill>
                  <a:srgbClr val="111111"/>
                </a:solidFill>
              </a:rPr>
              <a:t>работа</a:t>
            </a:r>
            <a:endParaRPr sz="2400" b="1" dirty="0">
              <a:solidFill>
                <a:srgbClr val="111111"/>
              </a:solidFill>
            </a:endParaRPr>
          </a:p>
        </p:txBody>
      </p:sp>
      <p:sp>
        <p:nvSpPr>
          <p:cNvPr id="5" name="repl-flow">
            <a:extLst>
              <a:ext uri="{FF2B5EF4-FFF2-40B4-BE49-F238E27FC236}">
                <a16:creationId xmlns:a16="http://schemas.microsoft.com/office/drawing/2014/main" id="{CA969D41-739E-4DB2-B665-063376926575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2400" b="1" i="1" dirty="0" err="1">
                <a:solidFill>
                  <a:srgbClr val="111111"/>
                </a:solidFill>
              </a:rPr>
              <a:t>чтение</a:t>
            </a:r>
            <a:r>
              <a:rPr sz="2400" b="1" i="1" dirty="0">
                <a:solidFill>
                  <a:srgbClr val="111111"/>
                </a:solidFill>
              </a:rPr>
              <a:t>  →  </a:t>
            </a:r>
            <a:r>
              <a:rPr sz="2400" b="1" i="1" dirty="0" err="1">
                <a:solidFill>
                  <a:srgbClr val="111111"/>
                </a:solidFill>
              </a:rPr>
              <a:t>вычисление</a:t>
            </a:r>
            <a:r>
              <a:rPr sz="2400" b="1" i="1" dirty="0">
                <a:solidFill>
                  <a:srgbClr val="111111"/>
                </a:solidFill>
              </a:rPr>
              <a:t>  →  </a:t>
            </a:r>
            <a:r>
              <a:rPr sz="2400" b="1" i="1" dirty="0" err="1">
                <a:solidFill>
                  <a:srgbClr val="111111"/>
                </a:solidFill>
              </a:rPr>
              <a:t>вывод</a:t>
            </a:r>
            <a:endParaRPr sz="2400" b="1" i="1" dirty="0">
              <a:solidFill>
                <a:srgbClr val="111111"/>
              </a:solidFill>
            </a:endParaRPr>
          </a:p>
        </p:txBody>
      </p:sp>
      <p:sp>
        <p:nvSpPr>
          <p:cNvPr id="6" name="repl-body">
            <a:extLst>
              <a:ext uri="{FF2B5EF4-FFF2-40B4-BE49-F238E27FC236}">
                <a16:creationId xmlns:a16="http://schemas.microsoft.com/office/drawing/2014/main" id="{5624411E-CCFA-4145-AAAA-219A0BAA52CB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363636"/>
                </a:solidFill>
              </a:defRPr>
            </a:pPr>
            <a:r>
              <a:rPr sz="2400" b="0">
                <a:solidFill>
                  <a:srgbClr val="363636"/>
                </a:solidFill>
              </a:rPr>
              <a:t>Команда выполняется сразу.</a:t>
            </a:r>
          </a:p>
          <a:p>
            <a:pPr algn="l">
              <a:defRPr sz="1650" b="0">
                <a:solidFill>
                  <a:srgbClr val="363636"/>
                </a:solidFill>
              </a:defRPr>
            </a:pPr>
            <a:r>
              <a:rPr sz="2400" b="0">
                <a:solidFill>
                  <a:srgbClr val="363636"/>
                </a:solidFill>
              </a:rPr>
              <a:t>Результат помогает уточнить следующий шаг.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45945C8B-0831-4F6A-BEBD-374D0C9CEAE7}"/>
              </a:ext>
            </a:extLst>
          </p:cNvPr>
          <p:cNvSpPr>
            <a:spLocks noGrp="1"/>
          </p:cNvSpPr>
          <p:nvPr/>
        </p:nvSpPr>
        <p:spPr>
          <a:xfrm>
            <a:off x="5848172" y="1571625"/>
            <a:ext cx="0" cy="371475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compiler-head">
            <a:extLst>
              <a:ext uri="{FF2B5EF4-FFF2-40B4-BE49-F238E27FC236}">
                <a16:creationId xmlns:a16="http://schemas.microsoft.com/office/drawing/2014/main" id="{12B920B7-D909-43D5-8C9D-A8A0E560928E}"/>
              </a:ext>
            </a:extLst>
          </p:cNvPr>
          <p:cNvSpPr>
            <a:spLocks noGrp="1"/>
          </p:cNvSpPr>
          <p:nvPr/>
        </p:nvSpPr>
        <p:spPr>
          <a:xfrm>
            <a:off x="6067424" y="1356868"/>
            <a:ext cx="5648311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76DC3"/>
                </a:solidFill>
              </a:defRPr>
            </a:pPr>
            <a:r>
              <a:rPr sz="3200" b="1" dirty="0" err="1">
                <a:solidFill>
                  <a:srgbClr val="276DC3"/>
                </a:solidFill>
              </a:rPr>
              <a:t>Компиляция</a:t>
            </a:r>
            <a:endParaRPr sz="3200" b="1" dirty="0">
              <a:solidFill>
                <a:srgbClr val="276DC3"/>
              </a:solidFill>
            </a:endParaRPr>
          </a:p>
        </p:txBody>
      </p:sp>
      <p:sp>
        <p:nvSpPr>
          <p:cNvPr id="9" name="compiler-sub">
            <a:extLst>
              <a:ext uri="{FF2B5EF4-FFF2-40B4-BE49-F238E27FC236}">
                <a16:creationId xmlns:a16="http://schemas.microsoft.com/office/drawing/2014/main" id="{84012909-9E59-4A22-A6D7-24BADB002798}"/>
              </a:ext>
            </a:extLst>
          </p:cNvPr>
          <p:cNvSpPr>
            <a:spLocks noGrp="1"/>
          </p:cNvSpPr>
          <p:nvPr/>
        </p:nvSpPr>
        <p:spPr>
          <a:xfrm>
            <a:off x="6067425" y="1963397"/>
            <a:ext cx="457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2400" b="1" dirty="0" err="1">
                <a:solidFill>
                  <a:srgbClr val="111111"/>
                </a:solidFill>
              </a:rPr>
              <a:t>ускоряет</a:t>
            </a:r>
            <a:r>
              <a:rPr sz="2400" b="1" dirty="0">
                <a:solidFill>
                  <a:srgbClr val="111111"/>
                </a:solidFill>
              </a:rPr>
              <a:t> </a:t>
            </a:r>
            <a:r>
              <a:rPr sz="2400" b="1" dirty="0" err="1">
                <a:solidFill>
                  <a:srgbClr val="111111"/>
                </a:solidFill>
              </a:rPr>
              <a:t>выполнение</a:t>
            </a:r>
            <a:endParaRPr sz="2400" b="1" dirty="0">
              <a:solidFill>
                <a:srgbClr val="111111"/>
              </a:solidFill>
            </a:endParaRPr>
          </a:p>
        </p:txBody>
      </p:sp>
      <p:sp>
        <p:nvSpPr>
          <p:cNvPr id="10" name="compiler-body">
            <a:extLst>
              <a:ext uri="{FF2B5EF4-FFF2-40B4-BE49-F238E27FC236}">
                <a16:creationId xmlns:a16="http://schemas.microsoft.com/office/drawing/2014/main" id="{B1723326-AD10-442A-90AA-84E6924BB7AD}"/>
              </a:ext>
            </a:extLst>
          </p:cNvPr>
          <p:cNvSpPr>
            <a:spLocks noGrp="1"/>
          </p:cNvSpPr>
          <p:nvPr/>
        </p:nvSpPr>
        <p:spPr>
          <a:xfrm>
            <a:off x="6067425" y="2700205"/>
            <a:ext cx="5916894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363636"/>
                </a:solidFill>
              </a:defRPr>
            </a:pPr>
            <a:r>
              <a:rPr sz="2400" b="0" dirty="0">
                <a:solidFill>
                  <a:srgbClr val="363636"/>
                </a:solidFill>
              </a:rPr>
              <a:t>R </a:t>
            </a:r>
            <a:r>
              <a:rPr sz="2400" b="0" dirty="0" err="1">
                <a:solidFill>
                  <a:srgbClr val="363636"/>
                </a:solidFill>
              </a:rPr>
              <a:t>обычно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выполняет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код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интерактивно</a:t>
            </a:r>
            <a:r>
              <a:rPr sz="2400" b="0" dirty="0">
                <a:solidFill>
                  <a:srgbClr val="363636"/>
                </a:solidFill>
              </a:rPr>
              <a:t>.</a:t>
            </a:r>
          </a:p>
          <a:p>
            <a:endParaRPr sz="2400" b="0" dirty="0">
              <a:solidFill>
                <a:srgbClr val="363636"/>
              </a:solidFill>
            </a:endParaRPr>
          </a:p>
          <a:p>
            <a:pPr algn="l">
              <a:defRPr sz="1575" b="0">
                <a:solidFill>
                  <a:srgbClr val="363636"/>
                </a:solidFill>
              </a:defRPr>
            </a:pPr>
            <a:r>
              <a:rPr sz="2400" b="0" dirty="0" err="1">
                <a:solidFill>
                  <a:srgbClr val="363636"/>
                </a:solidFill>
              </a:rPr>
              <a:t>Функции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и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пакеты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могут</a:t>
            </a:r>
            <a:r>
              <a:rPr lang="ru-RU" sz="240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компилироваться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в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байт-код</a:t>
            </a:r>
            <a:r>
              <a:rPr sz="2400" b="0" dirty="0">
                <a:solidFill>
                  <a:srgbClr val="363636"/>
                </a:solidFill>
              </a:rPr>
              <a:t>; </a:t>
            </a:r>
            <a:r>
              <a:rPr sz="2400" b="0" dirty="0" err="1">
                <a:solidFill>
                  <a:srgbClr val="363636"/>
                </a:solidFill>
              </a:rPr>
              <a:t>тяжёлые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вычисления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часто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реализованы</a:t>
            </a:r>
            <a:r>
              <a:rPr sz="2400" b="0" dirty="0">
                <a:solidFill>
                  <a:srgbClr val="363636"/>
                </a:solidFill>
              </a:rPr>
              <a:t> </a:t>
            </a:r>
            <a:r>
              <a:rPr sz="2400" b="0" dirty="0" err="1">
                <a:solidFill>
                  <a:srgbClr val="363636"/>
                </a:solidFill>
              </a:rPr>
              <a:t>на</a:t>
            </a:r>
            <a:r>
              <a:rPr sz="2400" b="0" dirty="0">
                <a:solidFill>
                  <a:srgbClr val="363636"/>
                </a:solidFill>
              </a:rPr>
              <a:t> C, C++ </a:t>
            </a:r>
            <a:r>
              <a:rPr sz="2400" b="0" dirty="0" err="1">
                <a:solidFill>
                  <a:srgbClr val="363636"/>
                </a:solidFill>
              </a:rPr>
              <a:t>или</a:t>
            </a:r>
            <a:r>
              <a:rPr sz="2400" b="0" dirty="0">
                <a:solidFill>
                  <a:srgbClr val="363636"/>
                </a:solidFill>
              </a:rPr>
              <a:t> Fortran.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551D7760-FB54-422D-B494-4A17D1144762}"/>
              </a:ext>
            </a:extLst>
          </p:cNvPr>
          <p:cNvSpPr>
            <a:spLocks noGrp="1"/>
          </p:cNvSpPr>
          <p:nvPr/>
        </p:nvSpPr>
        <p:spPr>
          <a:xfrm>
            <a:off x="781050" y="547661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69AA"/>
                </a:solidFill>
              </a:defRPr>
            </a:pPr>
            <a:r>
              <a:rPr sz="2000" b="1" dirty="0" err="1">
                <a:solidFill>
                  <a:srgbClr val="1769AA"/>
                </a:solidFill>
              </a:rPr>
              <a:t>Удобство</a:t>
            </a:r>
            <a:r>
              <a:rPr sz="2000" b="1" dirty="0">
                <a:solidFill>
                  <a:srgbClr val="1769AA"/>
                </a:solidFill>
              </a:rPr>
              <a:t> REPL </a:t>
            </a:r>
            <a:r>
              <a:rPr sz="2000" b="1" dirty="0" err="1">
                <a:solidFill>
                  <a:srgbClr val="1769AA"/>
                </a:solidFill>
              </a:rPr>
              <a:t>для</a:t>
            </a:r>
            <a:r>
              <a:rPr sz="2000" b="1" dirty="0">
                <a:solidFill>
                  <a:srgbClr val="1769AA"/>
                </a:solidFill>
              </a:rPr>
              <a:t> </a:t>
            </a:r>
            <a:r>
              <a:rPr sz="2000" b="1" dirty="0" err="1">
                <a:solidFill>
                  <a:srgbClr val="1769AA"/>
                </a:solidFill>
              </a:rPr>
              <a:t>исследователя</a:t>
            </a:r>
            <a:r>
              <a:rPr sz="2000" b="1" dirty="0">
                <a:solidFill>
                  <a:srgbClr val="1769AA"/>
                </a:solidFill>
              </a:rPr>
              <a:t> + </a:t>
            </a:r>
            <a:r>
              <a:rPr sz="2000" b="1" dirty="0" err="1">
                <a:solidFill>
                  <a:srgbClr val="1769AA"/>
                </a:solidFill>
              </a:rPr>
              <a:t>скорость</a:t>
            </a:r>
            <a:r>
              <a:rPr sz="2000" b="1" dirty="0">
                <a:solidFill>
                  <a:srgbClr val="1769AA"/>
                </a:solidFill>
              </a:rPr>
              <a:t> </a:t>
            </a:r>
            <a:r>
              <a:rPr sz="2000" b="1" dirty="0" err="1">
                <a:solidFill>
                  <a:srgbClr val="1769AA"/>
                </a:solidFill>
              </a:rPr>
              <a:t>компилируемых</a:t>
            </a:r>
            <a:r>
              <a:rPr sz="2000" b="1" dirty="0">
                <a:solidFill>
                  <a:srgbClr val="1769AA"/>
                </a:solidFill>
              </a:rPr>
              <a:t> </a:t>
            </a:r>
            <a:r>
              <a:rPr sz="2000" b="1" dirty="0" err="1">
                <a:solidFill>
                  <a:srgbClr val="1769AA"/>
                </a:solidFill>
              </a:rPr>
              <a:t>компонентов</a:t>
            </a:r>
            <a:endParaRPr sz="2000" b="1" dirty="0">
              <a:solidFill>
                <a:srgbClr val="1769AA"/>
              </a:solidFill>
            </a:endParaRP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340CB81-11BE-4416-AA36-0A3D0F24D325}"/>
              </a:ext>
            </a:extLst>
          </p:cNvPr>
          <p:cNvSpPr>
            <a:spLocks noGrp="1"/>
          </p:cNvSpPr>
          <p:nvPr/>
        </p:nvSpPr>
        <p:spPr>
          <a:xfrm>
            <a:off x="781050" y="632460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25252"/>
                </a:solidFill>
              </a:defRPr>
            </a:pPr>
            <a:r>
              <a:rPr sz="750" b="0">
                <a:solidFill>
                  <a:srgbClr val="525252"/>
                </a:solidFill>
              </a:rPr>
              <a:t>Источники: Введение в R; R Core — package compiler; Writing R Extensions</a:t>
            </a:r>
          </a:p>
        </p:txBody>
      </p:sp>
    </p:spTree>
    <p:extLst>
      <p:ext uri="{BB962C8B-B14F-4D97-AF65-F5344CB8AC3E}">
        <p14:creationId xmlns:p14="http://schemas.microsoft.com/office/powerpoint/2010/main" val="12263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B2E7DEC-F0D5-4B97-990A-35E76C7DD16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сегодня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C3D2A-AA7C-4901-B984-30230658ECDC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DA90A6B-F8AB-4101-BCDC-3B3B0C710A11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467350" cy="2095500"/>
          </a:xfrm>
          <a:prstGeom prst="roundRect">
            <a:avLst>
              <a:gd name="adj" fmla="val 3810"/>
            </a:avLst>
          </a:prstGeom>
          <a:solidFill>
            <a:srgbClr val="EAF2FB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17761-01FA-45DE-B1B0-FA96D9A1E1B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000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72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4.6.1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C4CBF-DB0A-4DCD-9E40-B9C7CB8BB6FA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 июня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BA19C-DDC5-4DE0-9660-C18CE2B95690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текущий официальный выпуск</a:t>
            </a:r>
          </a:p>
        </p:txBody>
      </p:sp>
      <p:pic>
        <p:nvPicPr>
          <p:cNvPr id="29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50493" y="1295400"/>
            <a:ext cx="2606013" cy="20193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0E717F-75C4-4174-9393-EEE5C66DBB7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2578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DA0CD-A5B3-44F5-AF10-60DBE6A97A51}"/>
              </a:ext>
            </a:extLst>
          </p:cNvPr>
          <p:cNvSpPr>
            <a:spLocks noGrp="1"/>
          </p:cNvSpPr>
          <p:nvPr/>
        </p:nvSpPr>
        <p:spPr>
          <a:xfrm>
            <a:off x="819150" y="397192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R 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D624B-E452-40C0-99D7-00201F5E9046}"/>
              </a:ext>
            </a:extLst>
          </p:cNvPr>
          <p:cNvSpPr>
            <a:spLocks noGrp="1"/>
          </p:cNvSpPr>
          <p:nvPr/>
        </p:nvSpPr>
        <p:spPr>
          <a:xfrm>
            <a:off x="2170387" y="3924299"/>
            <a:ext cx="3694386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0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поддерживает</a:t>
            </a:r>
            <a:r>
              <a:rPr sz="200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базовую</a:t>
            </a:r>
            <a:r>
              <a:rPr sz="200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систему</a:t>
            </a:r>
            <a:endParaRPr sz="2000" b="0" i="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50A449-B208-4382-824D-65D8A344C8F0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52578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3B3EC1-109D-4826-91C6-1FE795FE365B}"/>
              </a:ext>
            </a:extLst>
          </p:cNvPr>
          <p:cNvSpPr>
            <a:spLocks noGrp="1"/>
          </p:cNvSpPr>
          <p:nvPr/>
        </p:nvSpPr>
        <p:spPr>
          <a:xfrm>
            <a:off x="6534150" y="3814762"/>
            <a:ext cx="20955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325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Основной</a:t>
            </a:r>
            <a:r>
              <a:rPr sz="2325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релиз</a:t>
            </a:r>
            <a:endParaRPr sz="2325" b="1" i="0" dirty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D033A-91FB-410E-AEF0-6A34E67D25AA}"/>
              </a:ext>
            </a:extLst>
          </p:cNvPr>
          <p:cNvSpPr>
            <a:spLocks noGrp="1"/>
          </p:cNvSpPr>
          <p:nvPr/>
        </p:nvSpPr>
        <p:spPr>
          <a:xfrm>
            <a:off x="8667750" y="4019550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313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обычно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раз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в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год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весной</a:t>
            </a:r>
            <a:endParaRPr sz="1950" b="0" i="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F7515D-3B5B-48A6-9AA3-DB08F29809D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52578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DD6B95-24F6-476E-8DD2-F2A63483304A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325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Исправления</a:t>
            </a:r>
            <a:endParaRPr sz="2325" b="1" i="0" dirty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6B7A57-A2D3-411D-8755-A107C27767A6}"/>
              </a:ext>
            </a:extLst>
          </p:cNvPr>
          <p:cNvSpPr>
            <a:spLocks noGrp="1"/>
          </p:cNvSpPr>
          <p:nvPr/>
        </p:nvSpPr>
        <p:spPr>
          <a:xfrm>
            <a:off x="2933700" y="5233166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69" lnSpcReduction="10000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патчи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выходят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по</a:t>
            </a: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необходимости</a:t>
            </a:r>
            <a:endParaRPr sz="1950" b="0" i="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CA0500-F349-4FDA-A4CF-E7CDB25AAB81}"/>
              </a:ext>
            </a:extLst>
          </p:cNvPr>
          <p:cNvSpPr>
            <a:spLocks noGrp="1"/>
          </p:cNvSpPr>
          <p:nvPr/>
        </p:nvSpPr>
        <p:spPr>
          <a:xfrm>
            <a:off x="6324600" y="4953000"/>
            <a:ext cx="52578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4C8B3F-20FF-4753-8382-01D0F3A306C7}"/>
              </a:ext>
            </a:extLst>
          </p:cNvPr>
          <p:cNvSpPr>
            <a:spLocks noGrp="1"/>
          </p:cNvSpPr>
          <p:nvPr/>
        </p:nvSpPr>
        <p:spPr>
          <a:xfrm>
            <a:off x="6534150" y="52482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325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Три</a:t>
            </a:r>
            <a:r>
              <a:rPr sz="2325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ветви</a:t>
            </a:r>
            <a:endParaRPr sz="2325" b="1" i="0" dirty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D4DA8C-E1F4-4E2E-9904-B9D6B73E0D76}"/>
              </a:ext>
            </a:extLst>
          </p:cNvPr>
          <p:cNvSpPr>
            <a:spLocks noGrp="1"/>
          </p:cNvSpPr>
          <p:nvPr/>
        </p:nvSpPr>
        <p:spPr>
          <a:xfrm>
            <a:off x="8431544" y="5306738"/>
            <a:ext cx="3046081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69"/>
          </a:bodyPr>
          <a:lstStyle/>
          <a:p>
            <a:pPr algn="l">
              <a:buNone/>
              <a:defRPr sz="19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950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r-release · r-patched · r-</a:t>
            </a:r>
            <a:r>
              <a:rPr sz="1950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devel</a:t>
            </a:r>
            <a:endParaRPr sz="1950" b="0" i="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EBA8A3-4DE5-42B0-B601-257CEFA3385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Источник: R Developer Page · данные на 30 августа 2026 года</a:t>
            </a:r>
          </a:p>
        </p:txBody>
      </p:sp>
    </p:spTree>
    <p:extLst>
      <p:ext uri="{BB962C8B-B14F-4D97-AF65-F5344CB8AC3E}">
        <p14:creationId xmlns:p14="http://schemas.microsoft.com/office/powerpoint/2010/main" val="116565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4453B2-ABC5-498C-B2CC-C0426374B96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Пакеты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09564-0E1B-42A1-97E8-98AE6D7028C0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0E2C924-C519-4264-8513-8A13802F517B}"/>
              </a:ext>
            </a:extLst>
          </p:cNvPr>
          <p:cNvSpPr>
            <a:spLocks noGrp="1"/>
          </p:cNvSpPr>
          <p:nvPr/>
        </p:nvSpPr>
        <p:spPr>
          <a:xfrm>
            <a:off x="6096000" y="1390650"/>
            <a:ext cx="0" cy="41910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pic>
        <p:nvPicPr>
          <p:cNvPr id="22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672" y="1390650"/>
            <a:ext cx="1057156" cy="819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1785B4-326D-47E3-B007-E88900CFF155}"/>
              </a:ext>
            </a:extLst>
          </p:cNvPr>
          <p:cNvSpPr>
            <a:spLocks noGrp="1"/>
          </p:cNvSpPr>
          <p:nvPr/>
        </p:nvSpPr>
        <p:spPr>
          <a:xfrm>
            <a:off x="2000250" y="1581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0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CRAN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0B7C08-651F-47AE-888B-C917A19D8697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Универсальный репозиторий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96215-A0BD-425C-8574-F1EFF5A55545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49530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Пакеты независимых авторов</a:t>
            </a:r>
          </a:p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Автоматические проверки</a:t>
            </a:r>
          </a:p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Разные предметные области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B96AD3-93DD-4298-91DE-6FA99FE3AEF2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4857750" cy="819150"/>
          </a:xfrm>
          <a:prstGeom prst="roundRect">
            <a:avLst>
              <a:gd name="adj" fmla="val 9302"/>
            </a:avLst>
          </a:prstGeom>
          <a:solidFill>
            <a:srgbClr val="F4F4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AAC68D-C505-4105-ADA5-9B8DA646695B}"/>
              </a:ext>
            </a:extLst>
          </p:cNvPr>
          <p:cNvSpPr>
            <a:spLocks noGrp="1"/>
          </p:cNvSpPr>
          <p:nvPr/>
        </p:nvSpPr>
        <p:spPr>
          <a:xfrm>
            <a:off x="895350" y="5143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95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ggplot2 · </a:t>
            </a:r>
            <a:r>
              <a:rPr sz="24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dplyr</a:t>
            </a:r>
            <a:r>
              <a:rPr sz="24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· </a:t>
            </a:r>
            <a:r>
              <a:rPr sz="24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tidyr</a:t>
            </a:r>
            <a:endParaRPr sz="2400" b="1" i="0" dirty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90710" y="1466850"/>
            <a:ext cx="3963629" cy="1143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335670-A766-4410-8F17-DF68DBDCC576}"/>
              </a:ext>
            </a:extLst>
          </p:cNvPr>
          <p:cNvSpPr>
            <a:spLocks noGrp="1"/>
          </p:cNvSpPr>
          <p:nvPr/>
        </p:nvSpPr>
        <p:spPr>
          <a:xfrm>
            <a:off x="6724650" y="27051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Биологические данные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9AE3F-74D8-4FB4-9DBF-49E26AE49375}"/>
              </a:ext>
            </a:extLst>
          </p:cNvPr>
          <p:cNvSpPr>
            <a:spLocks noGrp="1"/>
          </p:cNvSpPr>
          <p:nvPr/>
        </p:nvSpPr>
        <p:spPr>
          <a:xfrm>
            <a:off x="6724650" y="3448050"/>
            <a:ext cx="47625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Геномика и транскриптомика</a:t>
            </a:r>
          </a:p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Согласованные версии пакетов</a:t>
            </a:r>
          </a:p>
          <a:p>
            <a:pPr algn="l"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Единая документация и данные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D2F062-DA85-4941-AFD3-B298E5839627}"/>
              </a:ext>
            </a:extLst>
          </p:cNvPr>
          <p:cNvSpPr>
            <a:spLocks noGrp="1"/>
          </p:cNvSpPr>
          <p:nvPr/>
        </p:nvSpPr>
        <p:spPr>
          <a:xfrm>
            <a:off x="6724650" y="4953000"/>
            <a:ext cx="4762500" cy="819150"/>
          </a:xfrm>
          <a:prstGeom prst="roundRect">
            <a:avLst>
              <a:gd name="adj" fmla="val 9302"/>
            </a:avLst>
          </a:prstGeom>
          <a:solidFill>
            <a:srgbClr val="F4F4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300F76-7EA5-4D98-9C0C-8101E7C6E948}"/>
              </a:ext>
            </a:extLst>
          </p:cNvPr>
          <p:cNvSpPr>
            <a:spLocks noGrp="1"/>
          </p:cNvSpPr>
          <p:nvPr/>
        </p:nvSpPr>
        <p:spPr>
          <a:xfrm>
            <a:off x="6915150" y="514350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ctr">
              <a:buNone/>
              <a:defRPr sz="21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4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limma</a:t>
            </a:r>
            <a:r>
              <a:rPr sz="24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· </a:t>
            </a:r>
            <a:r>
              <a:rPr sz="24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edgeR</a:t>
            </a:r>
            <a:r>
              <a:rPr sz="24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· DESeq2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8D828E-26C1-4D1B-B255-09A4BC023A8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Источники: CRAN; Bioconductor. Логотип Bioconductor: CC BY-SA 4.0</a:t>
            </a:r>
          </a:p>
        </p:txBody>
      </p:sp>
      <p:sp>
        <p:nvSpPr>
          <p:cNvPr id="4" name="GitHub"/>
          <p:cNvSpPr/>
          <p:nvPr/>
        </p:nvSpPr>
        <p:spPr>
          <a:xfrm>
            <a:off x="609600" y="5867400"/>
            <a:ext cx="10820400" cy="457200"/>
          </a:xfrm>
          <a:prstGeom prst="roundRect">
            <a:avLst/>
          </a:prstGeom>
          <a:solidFill>
            <a:srgbClr val="EAF4FB"/>
          </a:solidFill>
          <a:ln w="0">
            <a:noFill/>
          </a:ln>
        </p:spPr>
        <p:txBody>
          <a:bodyPr lIns="190500" tIns="76200" rIns="190500" bIns="0" anchor="ctr"/>
          <a:lstStyle/>
          <a:p>
            <a:pPr algn="l">
              <a:buNone/>
            </a:pPr>
            <a:r>
              <a:rPr sz="2000" b="1" dirty="0">
                <a:solidFill>
                  <a:srgbClr val="1769AA"/>
                </a:solidFill>
                <a:latin typeface="Arial"/>
                <a:ea typeface="Arial"/>
                <a:cs typeface="Arial"/>
              </a:rPr>
              <a:t>GitHub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—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пакеты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разработке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;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установка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напрямую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проверок</a:t>
            </a:r>
            <a:r>
              <a:rPr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CRAN</a:t>
            </a:r>
          </a:p>
        </p:txBody>
      </p:sp>
    </p:spTree>
    <p:extLst>
      <p:ext uri="{BB962C8B-B14F-4D97-AF65-F5344CB8AC3E}">
        <p14:creationId xmlns:p14="http://schemas.microsoft.com/office/powerpoint/2010/main" val="62741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910F915-4699-45A2-8E51-B601C088DA9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Использование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FDC121-5954-4AB8-BF4F-DAD168FC8B97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2312071-B6A4-40B7-9F06-C1B94757A373}"/>
              </a:ext>
            </a:extLst>
          </p:cNvPr>
          <p:cNvSpPr>
            <a:spLocks noGrp="1"/>
          </p:cNvSpPr>
          <p:nvPr/>
        </p:nvSpPr>
        <p:spPr>
          <a:xfrm>
            <a:off x="6115050" y="1428750"/>
            <a:ext cx="0" cy="40386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E0899-06B8-4815-A4B6-47388BACE06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27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Наука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766BE-2523-4DCF-BF1D-2FD41514D916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43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эксперименты, графики, публикации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E3FC44E-8990-4CB8-A45E-32F7DF885FC6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953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DC43A-3704-4CDA-8522-483E2F1848DF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27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Биоинформатика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3EDA3-0BB3-4CB2-810D-D1C6417C8398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5143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геномика, RNA-seq, single-cell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3841068-0458-42EF-BE4A-8825252FFD5F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4953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67B73A-2ACA-4C9C-9DC8-5BAB8440DFE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325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Медицина и биостатистика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EF291-E2B4-4195-BB71-6F9A1BFCE351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5143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50"/>
          </a:bodyPr>
          <a:lstStyle/>
          <a:p>
            <a:pPr algn="l">
              <a:buNone/>
              <a:defRPr sz="20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выживаемость, регрессия, сравнение групп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DF43B-70EE-4F0E-85AD-BC00E72FFCEB}"/>
              </a:ext>
            </a:extLst>
          </p:cNvPr>
          <p:cNvSpPr>
            <a:spLocks noGrp="1"/>
          </p:cNvSpPr>
          <p:nvPr/>
        </p:nvSpPr>
        <p:spPr>
          <a:xfrm>
            <a:off x="6716111" y="13716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7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Бизнес</a:t>
            </a:r>
            <a:endParaRPr sz="2700" b="1" i="0" dirty="0">
              <a:solidFill>
                <a:srgbClr val="276D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C8954-3A84-4D5A-B102-DE4402C6DA19}"/>
              </a:ext>
            </a:extLst>
          </p:cNvPr>
          <p:cNvSpPr>
            <a:spLocks noGrp="1"/>
          </p:cNvSpPr>
          <p:nvPr/>
        </p:nvSpPr>
        <p:spPr>
          <a:xfrm>
            <a:off x="6716111" y="192405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прогнозы</a:t>
            </a:r>
            <a:r>
              <a:rPr sz="2025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, A/B-</a:t>
            </a:r>
            <a:r>
              <a:rPr sz="2025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тесты</a:t>
            </a:r>
            <a:r>
              <a:rPr sz="2025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автоматические</a:t>
            </a:r>
            <a:r>
              <a:rPr sz="2025" b="0" i="0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i="0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отчёты</a:t>
            </a:r>
            <a:endParaRPr sz="2025" b="0" i="0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51AD4D5-644C-4A1E-B1D1-A4136E048BA7}"/>
              </a:ext>
            </a:extLst>
          </p:cNvPr>
          <p:cNvSpPr>
            <a:spLocks noGrp="1"/>
          </p:cNvSpPr>
          <p:nvPr/>
        </p:nvSpPr>
        <p:spPr>
          <a:xfrm>
            <a:off x="6716111" y="2743200"/>
            <a:ext cx="40005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A0F2D-8925-420C-A74A-4C0D52C83891}"/>
              </a:ext>
            </a:extLst>
          </p:cNvPr>
          <p:cNvSpPr>
            <a:spLocks noGrp="1"/>
          </p:cNvSpPr>
          <p:nvPr/>
        </p:nvSpPr>
        <p:spPr>
          <a:xfrm>
            <a:off x="6716111" y="31623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7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583CC-D15B-4B50-9C42-5690020D7EF7}"/>
              </a:ext>
            </a:extLst>
          </p:cNvPr>
          <p:cNvSpPr>
            <a:spLocks noGrp="1"/>
          </p:cNvSpPr>
          <p:nvPr/>
        </p:nvSpPr>
        <p:spPr>
          <a:xfrm>
            <a:off x="6716111" y="371475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пакеты, API, Shiny; Rscript — без RStudio</a:t>
            </a:r>
          </a:p>
        </p:txBody>
      </p:sp>
      <p:pic>
        <p:nvPicPr>
          <p:cNvPr id="40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1624" y="251936"/>
            <a:ext cx="1104900" cy="8561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1265033-F32A-4489-B60E-AFA66A6623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011" lnSpcReduction="20000"/>
          </a:bodyPr>
          <a:lstStyle/>
          <a:p>
            <a:pPr algn="l">
              <a:buNone/>
              <a:defRPr sz="10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Источники: The R Project; Bioconductor; Shiny; Quarto</a:t>
            </a:r>
          </a:p>
        </p:txBody>
      </p:sp>
      <p:sp>
        <p:nvSpPr>
          <p:cNvPr id="21" name="Publication divider">
            <a:extLst>
              <a:ext uri="{FF2B5EF4-FFF2-40B4-BE49-F238E27FC236}">
                <a16:creationId xmlns:a16="http://schemas.microsoft.com/office/drawing/2014/main" id="{7A81AD65-1445-43AB-A8E0-D314765B3672}"/>
              </a:ext>
            </a:extLst>
          </p:cNvPr>
          <p:cNvSpPr>
            <a:spLocks noGrp="1"/>
          </p:cNvSpPr>
          <p:nvPr/>
        </p:nvSpPr>
        <p:spPr>
          <a:xfrm>
            <a:off x="6716111" y="4667250"/>
            <a:ext cx="28575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2" name="Publication heading">
            <a:extLst>
              <a:ext uri="{FF2B5EF4-FFF2-40B4-BE49-F238E27FC236}">
                <a16:creationId xmlns:a16="http://schemas.microsoft.com/office/drawing/2014/main" id="{3A1B3119-A985-4016-86FE-F62A0DF42129}"/>
              </a:ext>
            </a:extLst>
          </p:cNvPr>
          <p:cNvSpPr>
            <a:spLocks noGrp="1"/>
          </p:cNvSpPr>
          <p:nvPr/>
        </p:nvSpPr>
        <p:spPr>
          <a:xfrm>
            <a:off x="6716111" y="48196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23" name="Publication examples">
            <a:extLst>
              <a:ext uri="{FF2B5EF4-FFF2-40B4-BE49-F238E27FC236}">
                <a16:creationId xmlns:a16="http://schemas.microsoft.com/office/drawing/2014/main" id="{E6756822-3F29-428E-B623-D28CDB185260}"/>
              </a:ext>
            </a:extLst>
          </p:cNvPr>
          <p:cNvSpPr>
            <a:spLocks noGrp="1"/>
          </p:cNvSpPr>
          <p:nvPr/>
        </p:nvSpPr>
        <p:spPr>
          <a:xfrm>
            <a:off x="6716111" y="53340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2025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статьи</a:t>
            </a:r>
            <a:r>
              <a:rPr sz="2025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сайты</a:t>
            </a:r>
            <a:r>
              <a:rPr sz="2025" dirty="0">
                <a:solidFill>
                  <a:srgbClr val="363636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dirty="0" err="1">
                <a:solidFill>
                  <a:srgbClr val="363636"/>
                </a:solidFill>
                <a:latin typeface="Arial"/>
                <a:ea typeface="Arial"/>
                <a:cs typeface="Arial"/>
              </a:rPr>
              <a:t>отчёты</a:t>
            </a:r>
            <a:endParaRPr sz="2025" dirty="0">
              <a:solidFill>
                <a:srgbClr val="36363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039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F21AA8A-987D-4CEE-8161-ABB498ACF25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 практике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0BFDE-2FEC-4818-9DAA-6E49CE2A68F4}"/>
              </a:ext>
            </a:extLst>
          </p:cNvPr>
          <p:cNvSpPr>
            <a:spLocks noGrp="1"/>
          </p:cNvSpPr>
          <p:nvPr/>
        </p:nvSpPr>
        <p:spPr>
          <a:xfrm>
            <a:off x="11068050" y="4381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B496C-E6B2-4A8E-8264-6724DA0CF74E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ДО СЛЕДУЮЩЕГО ЗАНЯТИЯ</a:t>
            </a:r>
          </a:p>
        </p:txBody>
      </p:sp>
      <p:pic>
        <p:nvPicPr>
          <p:cNvPr id="30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925050"/>
            <a:ext cx="685800" cy="531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306E7B-94B8-4DD8-BE3C-045216454C71}"/>
              </a:ext>
            </a:extLst>
          </p:cNvPr>
          <p:cNvSpPr>
            <a:spLocks noGrp="1"/>
          </p:cNvSpPr>
          <p:nvPr/>
        </p:nvSpPr>
        <p:spPr>
          <a:xfrm>
            <a:off x="1581150" y="1943100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50731-F161-471C-A16F-46866DFEC4AD}"/>
              </a:ext>
            </a:extLst>
          </p:cNvPr>
          <p:cNvSpPr>
            <a:spLocks noGrp="1"/>
          </p:cNvSpPr>
          <p:nvPr/>
        </p:nvSpPr>
        <p:spPr>
          <a:xfrm>
            <a:off x="2038350" y="18478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6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Установить 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3CA05B-EA7F-4DA9-B924-306B9B933DD3}"/>
              </a:ext>
            </a:extLst>
          </p:cNvPr>
          <p:cNvSpPr>
            <a:spLocks noGrp="1"/>
          </p:cNvSpPr>
          <p:nvPr/>
        </p:nvSpPr>
        <p:spPr>
          <a:xfrm>
            <a:off x="2038350" y="234315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cran.r-project.org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DA54BA2-0BF7-4A4D-B47B-A1480A6D09B9}"/>
              </a:ext>
            </a:extLst>
          </p:cNvPr>
          <p:cNvSpPr>
            <a:spLocks noGrp="1"/>
          </p:cNvSpPr>
          <p:nvPr/>
        </p:nvSpPr>
        <p:spPr>
          <a:xfrm>
            <a:off x="1581150" y="2819400"/>
            <a:ext cx="4953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pic>
        <p:nvPicPr>
          <p:cNvPr id="35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2950" y="3154278"/>
            <a:ext cx="609600" cy="5875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792147-F355-4CBF-AC93-A0A3A7B9AD92}"/>
              </a:ext>
            </a:extLst>
          </p:cNvPr>
          <p:cNvSpPr>
            <a:spLocks noGrp="1"/>
          </p:cNvSpPr>
          <p:nvPr/>
        </p:nvSpPr>
        <p:spPr>
          <a:xfrm>
            <a:off x="1581150" y="3200400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AD787-7814-4F44-B9DC-202EA5EAC37A}"/>
              </a:ext>
            </a:extLst>
          </p:cNvPr>
          <p:cNvSpPr>
            <a:spLocks noGrp="1"/>
          </p:cNvSpPr>
          <p:nvPr/>
        </p:nvSpPr>
        <p:spPr>
          <a:xfrm>
            <a:off x="2038350" y="30670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Установить RStudio Desktop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6A180-A8D9-424B-A385-E0F4E8D622AD}"/>
              </a:ext>
            </a:extLst>
          </p:cNvPr>
          <p:cNvSpPr>
            <a:spLocks noGrp="1"/>
          </p:cNvSpPr>
          <p:nvPr/>
        </p:nvSpPr>
        <p:spPr>
          <a:xfrm>
            <a:off x="2038350" y="356235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posit.co/downloads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91A82B9-EA7C-4113-9345-399E9F9F1FB7}"/>
              </a:ext>
            </a:extLst>
          </p:cNvPr>
          <p:cNvSpPr>
            <a:spLocks noGrp="1"/>
          </p:cNvSpPr>
          <p:nvPr/>
        </p:nvSpPr>
        <p:spPr>
          <a:xfrm>
            <a:off x="1581150" y="4038600"/>
            <a:ext cx="4953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pic>
        <p:nvPicPr>
          <p:cNvPr id="40" name="Picture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1050" y="4343400"/>
            <a:ext cx="533400" cy="533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AF49888-0B7D-44F4-B6EB-C5C6D3AEFE49}"/>
              </a:ext>
            </a:extLst>
          </p:cNvPr>
          <p:cNvSpPr>
            <a:spLocks noGrp="1"/>
          </p:cNvSpPr>
          <p:nvPr/>
        </p:nvSpPr>
        <p:spPr>
          <a:xfrm>
            <a:off x="1581150" y="4438650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6D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AAEF5-D26C-4FF5-B46F-E0EE33C5B46E}"/>
              </a:ext>
            </a:extLst>
          </p:cNvPr>
          <p:cNvSpPr>
            <a:spLocks noGrp="1"/>
          </p:cNvSpPr>
          <p:nvPr/>
        </p:nvSpPr>
        <p:spPr>
          <a:xfrm>
            <a:off x="2038350" y="430530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Вступить в беседу курса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021031-1AE3-42D9-B8DA-795B9E78CE76}"/>
              </a:ext>
            </a:extLst>
          </p:cNvPr>
          <p:cNvSpPr>
            <a:spLocks noGrp="1"/>
          </p:cNvSpPr>
          <p:nvPr/>
        </p:nvSpPr>
        <p:spPr>
          <a:xfrm>
            <a:off x="2038350" y="4800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0068CF-7E43-47D4-B287-5A9D985A8300}"/>
              </a:ext>
            </a:extLst>
          </p:cNvPr>
          <p:cNvSpPr>
            <a:spLocks noGrp="1"/>
          </p:cNvSpPr>
          <p:nvPr/>
        </p:nvSpPr>
        <p:spPr>
          <a:xfrm>
            <a:off x="7905750" y="537210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Беседа</a:t>
            </a:r>
            <a:r>
              <a:rPr sz="21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курса</a:t>
            </a:r>
            <a:endParaRPr sz="21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D0A127-A904-4A4A-8241-B3A88EC44EDE}"/>
              </a:ext>
            </a:extLst>
          </p:cNvPr>
          <p:cNvSpPr>
            <a:spLocks noGrp="1"/>
          </p:cNvSpPr>
          <p:nvPr/>
        </p:nvSpPr>
        <p:spPr>
          <a:xfrm>
            <a:off x="7581900" y="6038850"/>
            <a:ext cx="3543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 i="0">
                <a:solidFill>
                  <a:srgbClr val="276DC3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Сначала</a:t>
            </a:r>
            <a:r>
              <a:rPr sz="18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R, </a:t>
            </a:r>
            <a:r>
              <a:rPr sz="1800" b="1" i="0" dirty="0" err="1">
                <a:solidFill>
                  <a:srgbClr val="276DC3"/>
                </a:solidFill>
                <a:latin typeface="Arial"/>
                <a:ea typeface="Arial"/>
                <a:cs typeface="Arial"/>
              </a:rPr>
              <a:t>затем</a:t>
            </a:r>
            <a:r>
              <a:rPr sz="1800" b="1" i="0" dirty="0">
                <a:solidFill>
                  <a:srgbClr val="276DC3"/>
                </a:solidFill>
                <a:latin typeface="Arial"/>
                <a:ea typeface="Arial"/>
                <a:cs typeface="Arial"/>
              </a:rPr>
              <a:t>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E9F5C-1B04-854D-928E-471046A29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1221158"/>
            <a:ext cx="4019550" cy="4019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C3CF03-61D2-7A1B-C9DC-A618260CC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971" y="2593650"/>
            <a:ext cx="1352876" cy="12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8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5DB691-3575-40E8-9A67-7109009516B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096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94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Вопросы?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58A0085-5C94-4D3D-93D1-9CD35F46BD01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2095500" cy="0"/>
          </a:xfrm>
          <a:prstGeom prst="line">
            <a:avLst/>
          </a:prstGeom>
          <a:noFill/>
          <a:ln w="66675">
            <a:solidFill>
              <a:srgbClr val="276DC3"/>
            </a:solidFill>
            <a:prstDash val="solid"/>
          </a:ln>
        </p:spPr>
      </p:sp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32689" y="5391150"/>
            <a:ext cx="1032571" cy="800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E112DA-F9F5-4F91-BF9A-DE2B6D282038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350" b="0" i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6363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50882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2790</Words>
  <Application>Microsoft Macintosh PowerPoint</Application>
  <DocSecurity>0</DocSecurity>
  <PresentationFormat>Widescreen</PresentationFormat>
  <Paragraphs>281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Станин Владислав Андреевич</cp:lastModifiedBy>
  <cp:revision>7</cp:revision>
  <dcterms:created xsi:type="dcterms:W3CDTF">2026-08-30T12:52:27Z</dcterms:created>
  <dcterms:modified xsi:type="dcterms:W3CDTF">2026-09-01T22:40:59Z</dcterms:modified>
</cp:coreProperties>
</file>