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Титульный слайд. После запуска перейдите к первому вопросу.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Б. 45</a:t>
            </a:r>
          </a:p>
          <a:p>
            <a:endParaRPr/>
          </a:p>
          <a:p>
            <a:r>
              <a:t>Пояснение: Умножение и деление имеют одинаковый приоритет. Вычисление идёт слева направо: 30 / 2 = 15, затем 15 * 3 = 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Г. 4</a:t>
            </a:r>
          </a:p>
          <a:p>
            <a:endParaRPr/>
          </a:p>
          <a:p>
            <a:r>
              <a:t>Пояснение: Сначала вычисляется степень: 2 ^ 2 = 4. Затем унарный минус даёт -4, а умножение на -1 даёт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Г. 'x' &lt;- 9</a:t>
            </a:r>
          </a:p>
          <a:p>
            <a:endParaRPr/>
          </a:p>
          <a:p>
            <a:r>
              <a:t>Пояснение: Слева от оператора присваивания должно находиться имя, а строка 'x' является текстовым значением.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А. ._new_name</a:t>
            </a:r>
          </a:p>
          <a:p>
            <a:endParaRPr/>
          </a:p>
          <a:p>
            <a:r>
              <a:t>Пояснение: Имя может начинаться с точки, если после неё не стоит цифра. Имя нельзя начинать с цифры или подчёркивания.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Б. 2</a:t>
            </a:r>
          </a:p>
          <a:p>
            <a:endParaRPr/>
          </a:p>
          <a:p>
            <a:r>
              <a:t>Пояснение: R округляет значения ровно посередине к ближайшему чётному числу, поэтому round(2.5) возвращает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Б. Только 1 и 2</a:t>
            </a:r>
          </a:p>
          <a:p>
            <a:endParaRPr/>
          </a:p>
          <a:p>
            <a:r>
              <a:t>Пояснение: Первые два вызова округляют 8.246 до одного знака. В третьем позиционном вызове округляется число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В. 2.236068</a:t>
            </a:r>
          </a:p>
          <a:p>
            <a:endParaRPr/>
          </a:p>
          <a:p>
            <a:r>
              <a:t>Пояснение: Сначала ceiling(4.1) возвращает 5, затем sqrt(5) возвращает приблизительно 2.236068.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А. integer</a:t>
            </a:r>
          </a:p>
          <a:p>
            <a:endParaRPr/>
          </a:p>
          <a:p>
            <a:r>
              <a:t>Пояснение: Умножение двух целых значений в этом примере возвращает значение внутреннего типа integer.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Б. double</a:t>
            </a:r>
          </a:p>
          <a:p>
            <a:endParaRPr/>
          </a:p>
          <a:p>
            <a:r>
              <a:t>Пояснение: TRUE при арифметической операции преобразуется в 1, а обычное число 2 имеет тип double. Результат тоже имеет тип double.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В. 3</a:t>
            </a:r>
          </a:p>
          <a:p>
            <a:endParaRPr/>
          </a:p>
          <a:p>
            <a:r>
              <a:t>Пояснение: as.integer() отбрасывает дробную часть по направлению к нулю и возвращает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Б. FALSE</a:t>
            </a:r>
          </a:p>
          <a:p>
            <a:endParaRPr/>
          </a:p>
          <a:p>
            <a:r>
              <a:t>Пояснение: Некоторые десятичные дроби хранятся приближённо, поэтому точное сравнение в этом примере возвращает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А. TRUE</a:t>
            </a:r>
          </a:p>
          <a:p>
            <a:endParaRPr/>
          </a:p>
          <a:p>
            <a:r>
              <a:t>Пояснение: Оператор &amp; выполняется раньше |. Сначала FALSE &amp; FALSE даёт FALSE, затем TRUE | FALSE даёт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А. TRUE</a:t>
            </a:r>
          </a:p>
          <a:p>
            <a:endParaRPr/>
          </a:p>
          <a:p>
            <a:r>
              <a:t>Пояснение: valid_score равно FALSE, поэтому !valid_score равно TRUE. Ненулевое число 70 преобразуется в TRUE: TRUE &amp; TRUE | FALSE даёт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Г. ceiling(n / 6)</a:t>
            </a:r>
          </a:p>
          <a:p>
            <a:endParaRPr/>
          </a:p>
          <a:p>
            <a:r>
              <a:t>Пояснение: ceiling() округляет частное вверх и учитывает неполную последнюю коробку. Формула n %/% 6 + 1 ошибается, когда остатка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А. Как вызов с двумя аргументами: 8 и 246 для digits</a:t>
            </a:r>
          </a:p>
          <a:p>
            <a:endParaRPr/>
          </a:p>
          <a:p>
            <a:r>
              <a:t>Пояснение: Запятая разделяет аргументы функции. Десятичная часть числа в R отделяется точкой.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А. TRUE и TRUE</a:t>
            </a:r>
          </a:p>
          <a:p>
            <a:endParaRPr/>
          </a:p>
          <a:p>
            <a:r>
              <a:t>Пояснение: 0 / 0 возвращает NaN. Значение NaN проходит и общую проверку is.na(), и специальную проверку is.nan().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В. NA</a:t>
            </a:r>
          </a:p>
          <a:p>
            <a:endParaRPr/>
          </a:p>
          <a:p>
            <a:r>
              <a:t>Пояснение: Неизвестно, было ли потерянное значение нулём. Поэтому сравнение с NA возвращает 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Б. Приглашение дополнить код</a:t>
            </a:r>
          </a:p>
          <a:p>
            <a:endParaRPr/>
          </a:p>
          <a:p>
            <a:r>
              <a:t>Пояснение: После символа # начинается комментарий. Для R остаётся незавершённое выражение variable &lt;-, поэтому консоль показывает приглашение продолжить ввод.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Г. Результат выполнения кода R</a:t>
            </a:r>
          </a:p>
          <a:p>
            <a:endParaRPr/>
          </a:p>
          <a:p>
            <a:r>
              <a:t>Пояснение: Markdown задаёт структуру и оформление текста. Для вычисления R-кода нужен выполняемый чанк.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Правильный ответ: Г. Доступ при Render к объектам только из текущей консоли RStudio</a:t>
            </a:r>
          </a:p>
          <a:p>
            <a:endParaRPr/>
          </a:p>
          <a:p>
            <a:r>
              <a:t>Пояснение: Render выполняет код в отдельной сессии R. Все необходимые объекты нужно создавать внутри документа.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09359-97AC-4263-8511-C111841BA0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BD29AC-A8E1-4534-8BE3-2F65EB563E87}"/>
              </a:ext>
            </a:extLst>
          </p:cNvPr>
          <p:cNvSpPr>
            <a:spLocks noGrp="1"/>
          </p:cNvSpPr>
          <p:nvPr/>
        </p:nvSpPr>
        <p:spPr>
          <a:xfrm>
            <a:off x="857250" y="78105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5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913229-FB67-4207-AB63-D2290E70C40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102870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</a:t>
            </a:r>
            <a:r>
              <a:rPr sz="5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52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</a:t>
            </a:r>
            <a:r>
              <a:rPr sz="5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52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занятию</a:t>
            </a:r>
            <a:r>
              <a:rPr sz="5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24FFFF-860D-4313-BEBE-0E1508F5F8DB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9810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550">
                <a:solidFill>
                  <a:srgbClr val="DCE6E7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CE6E7"/>
                </a:solidFill>
                <a:latin typeface="Arial"/>
                <a:ea typeface="Arial"/>
                <a:cs typeface="Arial"/>
              </a:rPr>
              <a:t>Синтаксис и вычисления в R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D702F7D-F20B-41B3-A1D5-313D6AFF2144}"/>
              </a:ext>
            </a:extLst>
          </p:cNvPr>
          <p:cNvSpPr>
            <a:spLocks noGrp="1"/>
          </p:cNvSpPr>
          <p:nvPr/>
        </p:nvSpPr>
        <p:spPr>
          <a:xfrm>
            <a:off x="876300" y="3857625"/>
            <a:ext cx="2000250" cy="0"/>
          </a:xfrm>
          <a:prstGeom prst="line">
            <a:avLst/>
          </a:prstGeom>
          <a:noFill/>
          <a:ln w="47625">
            <a:solidFill>
              <a:srgbClr val="1A7F78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4B66B-40B8-48CE-BB37-02D86D7D46FE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FFFF"/>
                </a:solidFill>
                <a:latin typeface="Arial"/>
                <a:ea typeface="Arial"/>
                <a:cs typeface="Arial"/>
              </a:rPr>
              <a:t>20 вопросов · один правильный ответ</a:t>
            </a:r>
          </a:p>
        </p:txBody>
      </p:sp>
    </p:spTree>
    <p:extLst>
      <p:ext uri="{BB962C8B-B14F-4D97-AF65-F5344CB8AC3E}">
        <p14:creationId xmlns:p14="http://schemas.microsoft.com/office/powerpoint/2010/main" val="2044082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38EC04-DCFB-4497-904D-646C82989E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2B8BC4-9976-4622-B475-F08F44BF4A57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B3C987-1485-4DF1-A89E-2B313656D50F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1FB7AE-EE6B-4D7F-B55A-544C3482D7A6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232"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 результат выведет выражение?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3AEDD7-267A-43D4-BE36-C981B33E8ADC}"/>
              </a:ext>
            </a:extLst>
          </p:cNvPr>
          <p:cNvSpPr>
            <a:spLocks noGrp="1"/>
          </p:cNvSpPr>
          <p:nvPr/>
        </p:nvSpPr>
        <p:spPr>
          <a:xfrm>
            <a:off x="800100" y="1690687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>
                <a:solidFill>
                  <a:srgbClr val="F3F6F8"/>
                </a:solidFill>
                <a:latin typeface="Menlo"/>
                <a:ea typeface="Menlo"/>
                <a:cs typeface="Menlo"/>
              </a:rPr>
              <a:t>30 / 2 *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F828F-CAD1-4A81-89B8-04289A2AD613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4C78F-7BEC-4A42-B021-5CE0D245C1D0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8B3A4A0-9144-4083-8AD1-926822091A11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DC847-19A5-4B12-B6BF-FEB9939B5D65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5ABCF7-8CF8-41B0-80F4-AC29A37043A7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E4794C0-C529-4FF7-AFC4-DB33DA694555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EE1649-FE75-4931-A46A-E513116C85B0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654D0C-2948-42C9-BCDB-B219CD9CE6FF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B16FF7F-B6D1-4E2C-B550-F6F5AE8BB4A1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14FE67-5F43-4054-9B25-294F216805B9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FA8D6C-CFE9-4F54-88BB-D3D6214EA5ED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Возникнет ошибка</a:t>
            </a:r>
          </a:p>
        </p:txBody>
      </p:sp>
    </p:spTree>
    <p:extLst>
      <p:ext uri="{BB962C8B-B14F-4D97-AF65-F5344CB8AC3E}">
        <p14:creationId xmlns:p14="http://schemas.microsoft.com/office/powerpoint/2010/main" val="189869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93496DF-08F1-497A-9C95-2ECB9E5425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82DBE8-A11B-412E-BB8E-20C1C41DE814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BEA10E-4680-4453-953B-CA71ABA9527D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2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1ECD14-64E9-42C2-8BCA-7EB7DE385FAB}"/>
              </a:ext>
            </a:extLst>
          </p:cNvPr>
          <p:cNvSpPr>
            <a:spLocks noGrp="1"/>
          </p:cNvSpPr>
          <p:nvPr/>
        </p:nvSpPr>
        <p:spPr>
          <a:xfrm>
            <a:off x="666749" y="647700"/>
            <a:ext cx="11178409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8437FDD-74D5-429C-87F1-4128ED68E9D8}"/>
              </a:ext>
            </a:extLst>
          </p:cNvPr>
          <p:cNvSpPr>
            <a:spLocks noGrp="1"/>
          </p:cNvSpPr>
          <p:nvPr/>
        </p:nvSpPr>
        <p:spPr>
          <a:xfrm>
            <a:off x="800100" y="1709738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-2 ^ 2 * 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03F03-8A78-452E-942D-4F4B273913F5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018AAD-80E8-4611-A1C5-201494FA3EB9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B155D1B-0EBE-4D58-93C3-2FC095BBA801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94B116-0B7B-4769-A4AB-FA9EABC6E403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4FCE28-667C-454E-AD59-BB21AE6F4DCE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-0.25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8351263-A0EE-4F7E-95FE-6B8AD5E67F60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11D8E-8E6B-4230-921C-2E6327D14325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FF0B99-9E6A-478C-94FE-2A0137D54316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-4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15BCC92-C012-43CA-B077-DDAB914AE29C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5D9D9A-B8BB-4A31-832A-C0B2DFAC8FC3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ABD9DB-D9D5-4B41-9C7B-EB51C7A8F419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3980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68337AD-72BC-4989-A7D4-F10FE4F967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51FF9-39FC-4CCB-B24F-2E8881DFCC67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D5F1C3-A7CC-46F9-8AD6-D2BC3AB87676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3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34330D-7DF3-42CD-8299-C39DE7CD9C56}"/>
              </a:ext>
            </a:extLst>
          </p:cNvPr>
          <p:cNvSpPr>
            <a:spLocks noGrp="1"/>
          </p:cNvSpPr>
          <p:nvPr/>
        </p:nvSpPr>
        <p:spPr>
          <a:xfrm>
            <a:off x="666750" y="838200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51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51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51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51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51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51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51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ошибку</a:t>
            </a:r>
            <a:r>
              <a:rPr sz="51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CB94D7-E93F-4357-A51B-947476EE7727}"/>
              </a:ext>
            </a:extLst>
          </p:cNvPr>
          <p:cNvSpPr>
            <a:spLocks noGrp="1"/>
          </p:cNvSpPr>
          <p:nvPr/>
        </p:nvSpPr>
        <p:spPr>
          <a:xfrm>
            <a:off x="800100" y="1895475"/>
            <a:ext cx="666750" cy="1152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342B64-383D-4E69-AF48-608CCCC51237}"/>
              </a:ext>
            </a:extLst>
          </p:cNvPr>
          <p:cNvSpPr>
            <a:spLocks noGrp="1"/>
          </p:cNvSpPr>
          <p:nvPr/>
        </p:nvSpPr>
        <p:spPr>
          <a:xfrm>
            <a:off x="1657350" y="1895475"/>
            <a:ext cx="9525000" cy="1152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4000" dirty="0">
                <a:solidFill>
                  <a:srgbClr val="202C36"/>
                </a:solidFill>
                <a:latin typeface="Menlo"/>
                <a:ea typeface="Menlo"/>
                <a:cs typeface="Menlo"/>
              </a:rPr>
              <a:t>x &lt;- 5 -&gt; y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DEF65ED-BDA3-406D-9F47-3E4A81193D79}"/>
              </a:ext>
            </a:extLst>
          </p:cNvPr>
          <p:cNvSpPr>
            <a:spLocks noGrp="1"/>
          </p:cNvSpPr>
          <p:nvPr/>
        </p:nvSpPr>
        <p:spPr>
          <a:xfrm>
            <a:off x="876300" y="307657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9C918D-1401-443F-BFED-A48B9261FF28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666750" cy="1152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B4C6A-BB81-4A11-BBD9-4A8577F23DFC}"/>
              </a:ext>
            </a:extLst>
          </p:cNvPr>
          <p:cNvSpPr>
            <a:spLocks noGrp="1"/>
          </p:cNvSpPr>
          <p:nvPr/>
        </p:nvSpPr>
        <p:spPr>
          <a:xfrm>
            <a:off x="1657350" y="3105150"/>
            <a:ext cx="9525000" cy="1152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4000">
                <a:solidFill>
                  <a:srgbClr val="202C36"/>
                </a:solidFill>
                <a:latin typeface="Menlo"/>
                <a:ea typeface="Menlo"/>
                <a:cs typeface="Menlo"/>
              </a:rPr>
              <a:t>`123` = 6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F22DE6A-4593-41D8-A80C-25BECF0D03AC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266455-5C7B-44B7-8ACA-9371103FE049}"/>
              </a:ext>
            </a:extLst>
          </p:cNvPr>
          <p:cNvSpPr>
            <a:spLocks noGrp="1"/>
          </p:cNvSpPr>
          <p:nvPr/>
        </p:nvSpPr>
        <p:spPr>
          <a:xfrm>
            <a:off x="800100" y="4314825"/>
            <a:ext cx="666750" cy="1152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CDD052-2DA3-459D-94E5-22DE7E58553B}"/>
              </a:ext>
            </a:extLst>
          </p:cNvPr>
          <p:cNvSpPr>
            <a:spLocks noGrp="1"/>
          </p:cNvSpPr>
          <p:nvPr/>
        </p:nvSpPr>
        <p:spPr>
          <a:xfrm>
            <a:off x="1657350" y="4314825"/>
            <a:ext cx="9525000" cy="1152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4000">
                <a:solidFill>
                  <a:srgbClr val="202C36"/>
                </a:solidFill>
                <a:latin typeface="Menlo"/>
                <a:ea typeface="Menlo"/>
                <a:cs typeface="Menlo"/>
              </a:rPr>
              <a:t>'x' -&gt; x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F8738DA-998B-497E-A8A4-E15B88EBB2F0}"/>
              </a:ext>
            </a:extLst>
          </p:cNvPr>
          <p:cNvSpPr>
            <a:spLocks noGrp="1"/>
          </p:cNvSpPr>
          <p:nvPr/>
        </p:nvSpPr>
        <p:spPr>
          <a:xfrm>
            <a:off x="876300" y="54959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6BEA6B-B487-487C-BBF0-62D558671A92}"/>
              </a:ext>
            </a:extLst>
          </p:cNvPr>
          <p:cNvSpPr>
            <a:spLocks noGrp="1"/>
          </p:cNvSpPr>
          <p:nvPr/>
        </p:nvSpPr>
        <p:spPr>
          <a:xfrm>
            <a:off x="800100" y="5524500"/>
            <a:ext cx="666750" cy="1152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CBB46E-B0C6-43AC-8369-BCA7042B1FCA}"/>
              </a:ext>
            </a:extLst>
          </p:cNvPr>
          <p:cNvSpPr>
            <a:spLocks noGrp="1"/>
          </p:cNvSpPr>
          <p:nvPr/>
        </p:nvSpPr>
        <p:spPr>
          <a:xfrm>
            <a:off x="1657350" y="5524500"/>
            <a:ext cx="9525000" cy="1152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4000">
                <a:solidFill>
                  <a:srgbClr val="202C36"/>
                </a:solidFill>
                <a:latin typeface="Menlo"/>
                <a:ea typeface="Menlo"/>
                <a:cs typeface="Menlo"/>
              </a:rPr>
              <a:t>'x' &lt;- 9</a:t>
            </a:r>
          </a:p>
        </p:txBody>
      </p:sp>
    </p:spTree>
    <p:extLst>
      <p:ext uri="{BB962C8B-B14F-4D97-AF65-F5344CB8AC3E}">
        <p14:creationId xmlns:p14="http://schemas.microsoft.com/office/powerpoint/2010/main" val="132289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BDB4E10-43BF-4E21-B05A-397BE01956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67C762-3E04-4461-9598-02A9F287AC6A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7FE987-A441-41C0-B4D9-C5DF57AAF252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4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F279F6-5066-4538-A461-1EB6319A64AC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944"/>
          </a:bodyPr>
          <a:lstStyle/>
          <a:p>
            <a: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Какое из указанных имён переменных можно использовать в 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83A11-0BBA-4D7E-B464-E3D2542F71B3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D58BB1-5617-4D85-AC70-C77BF814BD06}"/>
              </a:ext>
            </a:extLst>
          </p:cNvPr>
          <p:cNvSpPr>
            <a:spLocks noGrp="1"/>
          </p:cNvSpPr>
          <p:nvPr/>
        </p:nvSpPr>
        <p:spPr>
          <a:xfrm>
            <a:off x="1657350" y="2143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 dirty="0">
                <a:solidFill>
                  <a:srgbClr val="202C36"/>
                </a:solidFill>
                <a:latin typeface="Menlo"/>
                <a:ea typeface="Menlo"/>
                <a:cs typeface="Menlo"/>
              </a:rPr>
              <a:t>._</a:t>
            </a:r>
            <a:r>
              <a:rPr sz="3600" dirty="0" err="1">
                <a:solidFill>
                  <a:srgbClr val="202C36"/>
                </a:solidFill>
                <a:latin typeface="Menlo"/>
                <a:ea typeface="Menlo"/>
                <a:cs typeface="Menlo"/>
              </a:rPr>
              <a:t>new_name</a:t>
            </a:r>
            <a:endParaRPr sz="3600" dirty="0">
              <a:solidFill>
                <a:srgbClr val="202C36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12D5341-2506-44A2-9226-284A26F428C5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1F3D8-FBD2-4900-BE03-6A51874C7673}"/>
              </a:ext>
            </a:extLst>
          </p:cNvPr>
          <p:cNvSpPr>
            <a:spLocks noGrp="1"/>
          </p:cNvSpPr>
          <p:nvPr/>
        </p:nvSpPr>
        <p:spPr>
          <a:xfrm>
            <a:off x="800100" y="3286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630D84-D9B9-493B-88A0-9DB4C64C1BEF}"/>
              </a:ext>
            </a:extLst>
          </p:cNvPr>
          <p:cNvSpPr>
            <a:spLocks noGrp="1"/>
          </p:cNvSpPr>
          <p:nvPr/>
        </p:nvSpPr>
        <p:spPr>
          <a:xfrm>
            <a:off x="1657350" y="3286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2nd_variable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2082A93-F3E5-43F9-ACE9-2A4BB22FE6C5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B60B0B-1BB4-49E9-BA26-99543374E55E}"/>
              </a:ext>
            </a:extLst>
          </p:cNvPr>
          <p:cNvSpPr>
            <a:spLocks noGrp="1"/>
          </p:cNvSpPr>
          <p:nvPr/>
        </p:nvSpPr>
        <p:spPr>
          <a:xfrm>
            <a:off x="800100" y="4429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6270C7-0145-49A8-98B2-624F0436FABC}"/>
              </a:ext>
            </a:extLst>
          </p:cNvPr>
          <p:cNvSpPr>
            <a:spLocks noGrp="1"/>
          </p:cNvSpPr>
          <p:nvPr/>
        </p:nvSpPr>
        <p:spPr>
          <a:xfrm>
            <a:off x="1657350" y="4429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_some.x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5375EA56-CABE-4C36-8990-328CB827571B}"/>
              </a:ext>
            </a:extLst>
          </p:cNvPr>
          <p:cNvSpPr>
            <a:spLocks noGrp="1"/>
          </p:cNvSpPr>
          <p:nvPr/>
        </p:nvSpPr>
        <p:spPr>
          <a:xfrm>
            <a:off x="876300" y="5543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85E6EC-21E7-4C57-BD1B-BD54B787FBD3}"/>
              </a:ext>
            </a:extLst>
          </p:cNvPr>
          <p:cNvSpPr>
            <a:spLocks noGrp="1"/>
          </p:cNvSpPr>
          <p:nvPr/>
        </p:nvSpPr>
        <p:spPr>
          <a:xfrm>
            <a:off x="800100" y="5572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23937C-F691-4578-AC98-BBFB11C5E650}"/>
              </a:ext>
            </a:extLst>
          </p:cNvPr>
          <p:cNvSpPr>
            <a:spLocks noGrp="1"/>
          </p:cNvSpPr>
          <p:nvPr/>
        </p:nvSpPr>
        <p:spPr>
          <a:xfrm>
            <a:off x="1657350" y="5572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.2_ratio</a:t>
            </a:r>
          </a:p>
        </p:txBody>
      </p:sp>
    </p:spTree>
    <p:extLst>
      <p:ext uri="{BB962C8B-B14F-4D97-AF65-F5344CB8AC3E}">
        <p14:creationId xmlns:p14="http://schemas.microsoft.com/office/powerpoint/2010/main" val="371993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7F12C5D-32DF-4627-9A05-E3037E96F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CD5EB7-6C0D-4BE5-9CED-7E7240135D57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238F86-7EFB-44F9-9758-03A35E6BB21A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5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F89243-8D9C-4434-9D8F-EE90BEEF4D14}"/>
              </a:ext>
            </a:extLst>
          </p:cNvPr>
          <p:cNvSpPr>
            <a:spLocks noGrp="1"/>
          </p:cNvSpPr>
          <p:nvPr/>
        </p:nvSpPr>
        <p:spPr>
          <a:xfrm>
            <a:off x="666750" y="930491"/>
            <a:ext cx="11525250" cy="73341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429" lnSpcReduction="20000"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51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51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51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51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51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51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51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51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51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51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AE370C-A8D0-4226-9DA5-2A184F7F0FD9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round(2.5000)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956F38-3D4C-4ECD-A314-483EEA0D8950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31D84-0311-403F-B146-E453AA86DABA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A45EC44-6B33-4F41-9659-0AE3F364364A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A918E8-565F-4DD9-8110-1AA4ABA6DE8A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0C2658-F1B1-4922-9935-678CE7CA3CAC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FA5CC5F-0445-426A-8266-2ED254F0C9AD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EC25B-A683-46A5-BE15-99CBFE8C65FE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FBAE4D-FC87-4EEE-BDEC-4A1BFACAD825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85E27B7-D664-4BCA-886F-D93B879611F9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FE56B2-82FF-48C5-AF76-3A4971A5CC12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B1EC1C-3BB2-4AA8-B941-A17F4FB738FA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2.500</a:t>
            </a:r>
          </a:p>
        </p:txBody>
      </p:sp>
    </p:spTree>
    <p:extLst>
      <p:ext uri="{BB962C8B-B14F-4D97-AF65-F5344CB8AC3E}">
        <p14:creationId xmlns:p14="http://schemas.microsoft.com/office/powerpoint/2010/main" val="1012305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A4694A-475B-41CD-83F7-D0BDB38253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8BCA75-14BB-43F8-89B6-A4652CFE9E50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D0C49F-A9AE-4241-8173-E7ECB5B5B745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6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A77840-D544-4C98-A82C-4AA03C9A919B}"/>
              </a:ext>
            </a:extLst>
          </p:cNvPr>
          <p:cNvSpPr>
            <a:spLocks noGrp="1"/>
          </p:cNvSpPr>
          <p:nvPr/>
        </p:nvSpPr>
        <p:spPr>
          <a:xfrm>
            <a:off x="666750" y="866774"/>
            <a:ext cx="11336064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752"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Какие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строки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кода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дадут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одинаковый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ADA59F-8DB2-4E83-8396-F1F0AD278224}"/>
              </a:ext>
            </a:extLst>
          </p:cNvPr>
          <p:cNvSpPr>
            <a:spLocks noGrp="1"/>
          </p:cNvSpPr>
          <p:nvPr/>
        </p:nvSpPr>
        <p:spPr>
          <a:xfrm>
            <a:off x="800100" y="1811392"/>
            <a:ext cx="10287000" cy="1323975"/>
          </a:xfrm>
          <a:prstGeom prst="roundRect">
            <a:avLst>
              <a:gd name="adj" fmla="val 7194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round(8.246, 1)              # 1</a:t>
            </a:r>
          </a:p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round(digits = 1, x = 8.246) # 2</a:t>
            </a:r>
          </a:p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round(1, 8.246)              #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5835DB-E380-444A-8A3F-ED1BD59F754A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6667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AD52F-BC73-4C7D-8771-D121FB6374DC}"/>
              </a:ext>
            </a:extLst>
          </p:cNvPr>
          <p:cNvSpPr>
            <a:spLocks noGrp="1"/>
          </p:cNvSpPr>
          <p:nvPr/>
        </p:nvSpPr>
        <p:spPr>
          <a:xfrm>
            <a:off x="1657350" y="3314700"/>
            <a:ext cx="9525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82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2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Все</a:t>
            </a:r>
            <a:r>
              <a:rPr sz="32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32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три</a:t>
            </a:r>
            <a:endParaRPr sz="3200" dirty="0">
              <a:solidFill>
                <a:srgbClr val="202C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DD9E774-0739-468D-B2F9-BCC27E800CEE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56947F-1744-44B0-B2DF-1D5A3DB9CA02}"/>
              </a:ext>
            </a:extLst>
          </p:cNvPr>
          <p:cNvSpPr>
            <a:spLocks noGrp="1"/>
          </p:cNvSpPr>
          <p:nvPr/>
        </p:nvSpPr>
        <p:spPr>
          <a:xfrm>
            <a:off x="800100" y="4162425"/>
            <a:ext cx="6667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CE42CD-A72D-48C5-857E-FDC00BCBE9C6}"/>
              </a:ext>
            </a:extLst>
          </p:cNvPr>
          <p:cNvSpPr>
            <a:spLocks noGrp="1"/>
          </p:cNvSpPr>
          <p:nvPr/>
        </p:nvSpPr>
        <p:spPr>
          <a:xfrm>
            <a:off x="1657350" y="4162425"/>
            <a:ext cx="9525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202C36"/>
                </a:solidFill>
                <a:latin typeface="Arial"/>
                <a:ea typeface="Arial"/>
                <a:cs typeface="Arial"/>
              </a:rPr>
              <a:t>Только 1 и 2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92C802B-134B-4DDF-86AB-474D51C61B3A}"/>
              </a:ext>
            </a:extLst>
          </p:cNvPr>
          <p:cNvSpPr>
            <a:spLocks noGrp="1"/>
          </p:cNvSpPr>
          <p:nvPr/>
        </p:nvSpPr>
        <p:spPr>
          <a:xfrm>
            <a:off x="876300" y="498157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14316B-A81C-4F6F-8F16-0A75DE38FDE6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6667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CED919-2EFB-4BE5-BF36-78E5D5A0FC8D}"/>
              </a:ext>
            </a:extLst>
          </p:cNvPr>
          <p:cNvSpPr>
            <a:spLocks noGrp="1"/>
          </p:cNvSpPr>
          <p:nvPr/>
        </p:nvSpPr>
        <p:spPr>
          <a:xfrm>
            <a:off x="1657350" y="5010150"/>
            <a:ext cx="9525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202C36"/>
                </a:solidFill>
                <a:latin typeface="Arial"/>
                <a:ea typeface="Arial"/>
                <a:cs typeface="Arial"/>
              </a:rPr>
              <a:t>Только 1 и 3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E117320-FDBE-4995-9B0B-9942B1F744CB}"/>
              </a:ext>
            </a:extLst>
          </p:cNvPr>
          <p:cNvSpPr>
            <a:spLocks noGrp="1"/>
          </p:cNvSpPr>
          <p:nvPr/>
        </p:nvSpPr>
        <p:spPr>
          <a:xfrm>
            <a:off x="876300" y="58293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3D56C2-3CA6-4C73-B84B-9C9E9E54F3FD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6667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D6F42-0041-4504-A7D2-B65D9A451CFF}"/>
              </a:ext>
            </a:extLst>
          </p:cNvPr>
          <p:cNvSpPr>
            <a:spLocks noGrp="1"/>
          </p:cNvSpPr>
          <p:nvPr/>
        </p:nvSpPr>
        <p:spPr>
          <a:xfrm>
            <a:off x="1657350" y="5857875"/>
            <a:ext cx="9525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202C36"/>
                </a:solidFill>
                <a:latin typeface="Arial"/>
                <a:ea typeface="Arial"/>
                <a:cs typeface="Arial"/>
              </a:rPr>
              <a:t>Только 2 и 3</a:t>
            </a:r>
          </a:p>
        </p:txBody>
      </p:sp>
    </p:spTree>
    <p:extLst>
      <p:ext uri="{BB962C8B-B14F-4D97-AF65-F5344CB8AC3E}">
        <p14:creationId xmlns:p14="http://schemas.microsoft.com/office/powerpoint/2010/main" val="176826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A1D7D7E-F7BA-47B6-87B7-AF04EF6E7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30ECE3-757E-4E1D-90C1-B23682CC095D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221E8-6F56-4E3C-A8C2-AC2F64A43A53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7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507E1-3E62-4F28-8FF2-3C6E15322F87}"/>
              </a:ext>
            </a:extLst>
          </p:cNvPr>
          <p:cNvSpPr>
            <a:spLocks noGrp="1"/>
          </p:cNvSpPr>
          <p:nvPr/>
        </p:nvSpPr>
        <p:spPr>
          <a:xfrm>
            <a:off x="666750" y="847726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0901CC-3AFD-461F-B33D-5D00E45DB3E8}"/>
              </a:ext>
            </a:extLst>
          </p:cNvPr>
          <p:cNvSpPr>
            <a:spLocks noGrp="1"/>
          </p:cNvSpPr>
          <p:nvPr/>
        </p:nvSpPr>
        <p:spPr>
          <a:xfrm>
            <a:off x="762000" y="1857376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sqrt(ceiling(4.1))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DD2CB6-F6A0-44C5-9AC2-A573FFF93A70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A0E9F-78C2-4AF2-BA48-05043C6729F0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C84B654-D0A9-481F-B355-7EC952D09DF6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D2598C-0FC0-467E-B3AC-7CB38D8DB8A0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5F4D56-9257-47A6-B91F-E94BD199D4C7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E659348-A9AB-4599-866C-3F056531F352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BE6F8F-5679-4CE2-96E1-64D28C26037F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05D41B-91E7-4C6C-8547-448A58497A46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2.236068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FE3C06B-D084-4D12-989C-D6BC894A6918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3D59C1-F865-43EB-AD6A-03E0E8685569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18C9C2-F620-4451-894F-4745D895D9A8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1397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22EEA9C-BDCE-4CE1-8A8F-D510B3B091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654E38-4BB4-436A-8B66-275AE7FB8FC4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F73B43-583F-44FD-8F1B-B69903DDEB4B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8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17EFE6-DCAD-4911-8FEF-230EF65898E1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BA1C50-0C1A-47AD-85EE-3EC68FDFF7E5}"/>
              </a:ext>
            </a:extLst>
          </p:cNvPr>
          <p:cNvSpPr>
            <a:spLocks noGrp="1"/>
          </p:cNvSpPr>
          <p:nvPr/>
        </p:nvSpPr>
        <p:spPr>
          <a:xfrm>
            <a:off x="800100" y="1710888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 err="1">
                <a:solidFill>
                  <a:srgbClr val="F3F6F8"/>
                </a:solidFill>
                <a:latin typeface="Menlo"/>
                <a:ea typeface="Menlo"/>
                <a:cs typeface="Menlo"/>
              </a:rPr>
              <a:t>typeof</a:t>
            </a: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(2L * 2L)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3B2E03-0712-41F5-B2DD-6FB3734691A8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19CB84-F326-4070-919E-DD02D94027AA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integer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89D0059-FD44-4A0F-BD24-CC02E3E4A0B0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5A8832-E685-428D-8475-3F361676EC01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1FEF19-B538-493A-ABCF-99247EE728F8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double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423A262-323F-4455-94C6-2E8E32B326AC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76C816-A29E-4474-A7D5-355F8E14667B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C86CD2-B6DC-44D1-85F1-1685D1040A7E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numeric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747A676-81C9-48B4-8779-6DA68C288F69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55A3A5-A0B0-4918-A73A-DBFDFABD5706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CE42C4-6758-410A-8774-9BB5FD973C67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logical</a:t>
            </a:r>
          </a:p>
        </p:txBody>
      </p:sp>
    </p:spTree>
    <p:extLst>
      <p:ext uri="{BB962C8B-B14F-4D97-AF65-F5344CB8AC3E}">
        <p14:creationId xmlns:p14="http://schemas.microsoft.com/office/powerpoint/2010/main" val="157319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4FFC580-525D-41F9-B5B7-699B1E33E0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3FDF0A-0BC4-4A62-A3AA-DDC8C3F27ABE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151F1-9026-46F1-A379-C62A298992C8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9 / 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BD967-C35C-4044-B25F-C5F98DF1C936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6D9D9A-26AB-4DF9-AC2F-966D0597CA77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 dirty="0">
                <a:solidFill>
                  <a:srgbClr val="202C36"/>
                </a:solidFill>
                <a:latin typeface="Menlo"/>
                <a:ea typeface="Menlo"/>
                <a:cs typeface="Menlo"/>
              </a:rPr>
              <a:t>integer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46797DF-EDE1-479D-8C3D-DF8D3B370E6E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F53DFC-A6B8-48DB-9BDE-131FDFEDA093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B7AA7D-E37D-4271-93D3-60ACBE9CE87C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double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9799EB3-8D66-463C-8EE2-721B84A48E9C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34F44-95DC-4F56-90BB-1B1600455F83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297ED6-B44A-42F4-ADA4-67A252F9E4E5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numeric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9DC79C7-1B5E-429A-B08F-2489DCF316EA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85ED9E-2899-435D-A808-49F95CB8A135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302C43-FF71-4F8A-B1C6-FC6B46737306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logical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1D8590-7D70-E6F1-038C-0EA719FB270F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FEBE94C-1168-A509-0AC8-B9ACA48AD4D8}"/>
              </a:ext>
            </a:extLst>
          </p:cNvPr>
          <p:cNvSpPr>
            <a:spLocks noGrp="1"/>
          </p:cNvSpPr>
          <p:nvPr/>
        </p:nvSpPr>
        <p:spPr>
          <a:xfrm>
            <a:off x="800100" y="1710888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kern="1200" dirty="0" err="1">
                <a:solidFill>
                  <a:srgbClr val="F3F6F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typeof</a:t>
            </a:r>
            <a:r>
              <a:rPr lang="en-US" sz="2400" kern="1200" dirty="0">
                <a:solidFill>
                  <a:srgbClr val="F3F6F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(TRUE * 2)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47431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F2CE8A-744D-4F26-B8A5-401C5935ED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CE1AF1-EF27-44EC-B95D-D9CF5C17C6A5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E32253-9791-48CC-9B94-B55F03308B19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10 / 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CFEFD-E6C3-4755-8892-5CAE0FCFBFAB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CCD53-92E8-4FFE-97B3-13D5C34448F6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3.8L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A77A89E-01A1-4552-B87E-10A9A740F9FB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D63A18-152E-4FAE-8495-CAF8869D2467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01300D-0B1D-42ED-A700-AF200814B823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F23679A-C216-456E-A30C-8DF6F528BB08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54D389-C23F-421D-90F3-998DF9A9E039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E6DCA-352A-4E54-991A-5F736DF2A6D0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9A0EF1-4020-4874-9A51-FDA42EEE918C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A452E8-1D2E-4E3B-A953-C5196FA74D85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6DFE5F-7CD3-4CCC-889B-08DEA05E50E0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26"/>
          </a:bodyPr>
          <a:lstStyle/>
          <a:p>
            <a:pPr>
              <a:defRPr sz="57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5C6252-C188-4C0D-C9F0-FF4691F89AFE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4E70EC7-2F22-6F42-9AC0-1F664A069D25}"/>
              </a:ext>
            </a:extLst>
          </p:cNvPr>
          <p:cNvSpPr>
            <a:spLocks noGrp="1"/>
          </p:cNvSpPr>
          <p:nvPr/>
        </p:nvSpPr>
        <p:spPr>
          <a:xfrm>
            <a:off x="800100" y="1710888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kern="1200" dirty="0" err="1">
                <a:solidFill>
                  <a:srgbClr val="F3F6F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as.integer</a:t>
            </a:r>
            <a:r>
              <a:rPr lang="en-US" sz="2400" kern="1200" dirty="0">
                <a:solidFill>
                  <a:srgbClr val="F3F6F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(3.8)</a:t>
            </a:r>
          </a:p>
        </p:txBody>
      </p:sp>
    </p:spTree>
    <p:extLst>
      <p:ext uri="{BB962C8B-B14F-4D97-AF65-F5344CB8AC3E}">
        <p14:creationId xmlns:p14="http://schemas.microsoft.com/office/powerpoint/2010/main" val="484271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E76676-F6FC-4E01-A43E-39C0546022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AF7F90-BD6A-44DE-A3CD-B5644114B6FC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6380D4-F923-4730-B3FC-EC84E8F20BAD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11 / 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6C341-0565-441F-9BC6-2331749B30AB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20586-B2E0-4729-AB15-01444DB9F7AA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 dirty="0">
                <a:solidFill>
                  <a:srgbClr val="202C36"/>
                </a:solidFill>
                <a:latin typeface="Menlo"/>
                <a:ea typeface="Menlo"/>
                <a:cs typeface="Menlo"/>
              </a:rPr>
              <a:t>TRUE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6FABB90-8538-4B56-9D5A-DB9695C36429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6E36C2-982B-4A2D-AFAA-7D8B7A18B8B7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2EDA8-5111-42E6-944F-FA4FEC176945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FALSE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5589D94-9F55-4719-B304-CDACAD0DA9DC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DBC3D4-1795-4CCC-AA96-1A91066E9D3D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C39BBE-9EDB-4EB4-A42C-C823DA468919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0.6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C68E308-204B-4EC1-9CB4-9113E3EE1B15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2F391C-ABC8-4630-846A-5F24C0B88ACC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42A6D6-9B57-45D8-8BD5-B9E70D61AAEB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0.2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C5663D-5772-150B-A6CC-3809A277C534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5D4826D-F760-A9E6-E51E-6DF860ED8172}"/>
              </a:ext>
            </a:extLst>
          </p:cNvPr>
          <p:cNvSpPr>
            <a:spLocks noGrp="1"/>
          </p:cNvSpPr>
          <p:nvPr/>
        </p:nvSpPr>
        <p:spPr>
          <a:xfrm>
            <a:off x="800100" y="1710888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kern="1200" dirty="0">
                <a:solidFill>
                  <a:srgbClr val="F3F6F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0.2 + 0.4 == 0.6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703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FE86B9-480C-4F8F-B759-E60C460510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184DD7-3C40-49FC-9A94-BD5EF0FE88C5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80E812-3D36-4D5A-8CB3-F8E09ED54C79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12 / 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46BADC-A360-422A-A7F1-17164CA802BE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C12E21-9D17-42EF-8C27-FEEEF2473D3A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 dirty="0">
                <a:solidFill>
                  <a:srgbClr val="202C36"/>
                </a:solidFill>
                <a:latin typeface="Menlo"/>
                <a:ea typeface="Menlo"/>
                <a:cs typeface="Menlo"/>
              </a:rPr>
              <a:t>TRUE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6ACD32C-1951-4246-993A-49105E66980B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9B5986-5F7E-4254-931D-B535C48BD58D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2CBA3A-3F02-4774-A914-B54476481DDB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FALSE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3C364D6-7DA2-4B5C-81A4-C792624C96C6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CAB5AB-8E3C-4582-A4E3-0646422FC11F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68DA10-8911-490B-A008-813A9AC42824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NA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0B1A73C-BA4C-4E76-886F-33EA2FFB4DED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F2CB84-7992-45AE-AC36-3DDB7BBD5759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D5FDB4-5D01-4599-87AD-04F09FB1599A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NULL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C9268F-FB85-92BF-2762-E0607CE8DD50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B15C6E9-3AA9-86A3-CF07-838AA9C52D11}"/>
              </a:ext>
            </a:extLst>
          </p:cNvPr>
          <p:cNvSpPr>
            <a:spLocks noGrp="1"/>
          </p:cNvSpPr>
          <p:nvPr/>
        </p:nvSpPr>
        <p:spPr>
          <a:xfrm>
            <a:off x="800100" y="1710888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kern="1200" dirty="0">
                <a:solidFill>
                  <a:srgbClr val="F3F6F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 | FALSE &amp; FALSE</a:t>
            </a:r>
          </a:p>
        </p:txBody>
      </p:sp>
    </p:spTree>
    <p:extLst>
      <p:ext uri="{BB962C8B-B14F-4D97-AF65-F5344CB8AC3E}">
        <p14:creationId xmlns:p14="http://schemas.microsoft.com/office/powerpoint/2010/main" val="1839255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64C2B0-F2BE-4F34-BB5D-5733A607FE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3261E2-EBAA-419E-B622-CCFF3E51C5AB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E5F35-EC51-4B37-AF17-7393BA7028DC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13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406B6C-8414-4F22-8DD9-C9AE39D11DEF}"/>
              </a:ext>
            </a:extLst>
          </p:cNvPr>
          <p:cNvSpPr>
            <a:spLocks noGrp="1"/>
          </p:cNvSpPr>
          <p:nvPr/>
        </p:nvSpPr>
        <p:spPr>
          <a:xfrm>
            <a:off x="666750" y="728663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929"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выведет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5814FC-2C76-4219-AB9D-3FA72372252E}"/>
              </a:ext>
            </a:extLst>
          </p:cNvPr>
          <p:cNvSpPr>
            <a:spLocks noGrp="1"/>
          </p:cNvSpPr>
          <p:nvPr/>
        </p:nvSpPr>
        <p:spPr>
          <a:xfrm>
            <a:off x="800100" y="1755245"/>
            <a:ext cx="10287000" cy="1414200"/>
          </a:xfrm>
          <a:prstGeom prst="roundRect">
            <a:avLst>
              <a:gd name="adj" fmla="val 7194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score &lt;- 70</a:t>
            </a:r>
          </a:p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 err="1">
                <a:solidFill>
                  <a:srgbClr val="F3F6F8"/>
                </a:solidFill>
                <a:latin typeface="Menlo"/>
                <a:ea typeface="Menlo"/>
                <a:cs typeface="Menlo"/>
              </a:rPr>
              <a:t>valid_score</a:t>
            </a: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 &lt;- score &gt; 70</a:t>
            </a:r>
          </a:p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score &amp; !</a:t>
            </a:r>
            <a:r>
              <a:rPr sz="2400" dirty="0" err="1">
                <a:solidFill>
                  <a:srgbClr val="F3F6F8"/>
                </a:solidFill>
                <a:latin typeface="Menlo"/>
                <a:ea typeface="Menlo"/>
                <a:cs typeface="Menlo"/>
              </a:rPr>
              <a:t>valid_score</a:t>
            </a: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 | </a:t>
            </a:r>
            <a:r>
              <a:rPr sz="2400" dirty="0" err="1">
                <a:solidFill>
                  <a:srgbClr val="F3F6F8"/>
                </a:solidFill>
                <a:latin typeface="Menlo"/>
                <a:ea typeface="Menlo"/>
                <a:cs typeface="Menlo"/>
              </a:rPr>
              <a:t>valid_score</a:t>
            </a:r>
            <a:endParaRPr sz="2400" dirty="0">
              <a:solidFill>
                <a:srgbClr val="F3F6F8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F7D9E-BAD6-4250-90D4-2274BE691C83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6667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E4A96-7D7D-4A39-ADB7-A533FCC2CAEB}"/>
              </a:ext>
            </a:extLst>
          </p:cNvPr>
          <p:cNvSpPr>
            <a:spLocks noGrp="1"/>
          </p:cNvSpPr>
          <p:nvPr/>
        </p:nvSpPr>
        <p:spPr>
          <a:xfrm>
            <a:off x="1657350" y="3314700"/>
            <a:ext cx="9525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51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 dirty="0">
                <a:solidFill>
                  <a:srgbClr val="202C36"/>
                </a:solidFill>
                <a:latin typeface="Menlo"/>
                <a:ea typeface="Menlo"/>
                <a:cs typeface="Menlo"/>
              </a:rPr>
              <a:t>TRUE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2619FD1-B7A8-43D4-8931-4AEF2F1D7E62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8CE0DF-1BA7-495F-8DD8-2ACD5796E316}"/>
              </a:ext>
            </a:extLst>
          </p:cNvPr>
          <p:cNvSpPr>
            <a:spLocks noGrp="1"/>
          </p:cNvSpPr>
          <p:nvPr/>
        </p:nvSpPr>
        <p:spPr>
          <a:xfrm>
            <a:off x="800100" y="4162425"/>
            <a:ext cx="6667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5828C0-F287-4B08-9153-530D26A19965}"/>
              </a:ext>
            </a:extLst>
          </p:cNvPr>
          <p:cNvSpPr>
            <a:spLocks noGrp="1"/>
          </p:cNvSpPr>
          <p:nvPr/>
        </p:nvSpPr>
        <p:spPr>
          <a:xfrm>
            <a:off x="1657350" y="4162425"/>
            <a:ext cx="9525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51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 dirty="0">
                <a:solidFill>
                  <a:srgbClr val="202C36"/>
                </a:solidFill>
                <a:latin typeface="Menlo"/>
                <a:ea typeface="Menlo"/>
                <a:cs typeface="Menlo"/>
              </a:rPr>
              <a:t>FALSE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A2BD62B-3A3C-4B1F-B692-35CB019C8395}"/>
              </a:ext>
            </a:extLst>
          </p:cNvPr>
          <p:cNvSpPr>
            <a:spLocks noGrp="1"/>
          </p:cNvSpPr>
          <p:nvPr/>
        </p:nvSpPr>
        <p:spPr>
          <a:xfrm>
            <a:off x="876300" y="498157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AB1302-847B-40FD-83BC-C0D1AC0BF9E4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6667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9117B-5C5E-4916-91F2-E7C6F0AF2098}"/>
              </a:ext>
            </a:extLst>
          </p:cNvPr>
          <p:cNvSpPr>
            <a:spLocks noGrp="1"/>
          </p:cNvSpPr>
          <p:nvPr/>
        </p:nvSpPr>
        <p:spPr>
          <a:xfrm>
            <a:off x="1657350" y="5010150"/>
            <a:ext cx="9525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51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NA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3DFB9A1D-3FA9-4F39-AF26-F5906A1CC326}"/>
              </a:ext>
            </a:extLst>
          </p:cNvPr>
          <p:cNvSpPr>
            <a:spLocks noGrp="1"/>
          </p:cNvSpPr>
          <p:nvPr/>
        </p:nvSpPr>
        <p:spPr>
          <a:xfrm>
            <a:off x="876300" y="58293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EA0C84-9C00-49E9-B490-C2F8B2650058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66675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517F8C-BC30-43F4-8555-5F5F96933630}"/>
              </a:ext>
            </a:extLst>
          </p:cNvPr>
          <p:cNvSpPr>
            <a:spLocks noGrp="1"/>
          </p:cNvSpPr>
          <p:nvPr/>
        </p:nvSpPr>
        <p:spPr>
          <a:xfrm>
            <a:off x="1657350" y="5857875"/>
            <a:ext cx="9525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51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579001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755DA23-4F4F-45F0-A34A-C4C6789CDC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F8E422-DCB2-40CD-A283-969B70DC160D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442271-0CDB-405E-8050-9C10A0DCACD2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14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81E888-E587-42FE-BD05-5378C5B8541D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583" lnSpcReduction="20000"/>
          </a:bodyPr>
          <a:lstStyle/>
          <a:p>
            <a:pPr>
              <a:defRPr sz="4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коробку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помещается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6 </a:t>
            </a: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товаров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. </a:t>
            </a:r>
            <a:br>
              <a:rPr lang="en-US"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</a:b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вычислить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минимальное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число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коробок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для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n </a:t>
            </a:r>
            <a:r>
              <a:rPr sz="4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товаров</a:t>
            </a:r>
            <a:r>
              <a:rPr sz="4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50233-46B8-468B-A37E-2A3A98FD6EC3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14997-E6E2-494A-9519-0A34DB94D417}"/>
              </a:ext>
            </a:extLst>
          </p:cNvPr>
          <p:cNvSpPr>
            <a:spLocks noGrp="1"/>
          </p:cNvSpPr>
          <p:nvPr/>
        </p:nvSpPr>
        <p:spPr>
          <a:xfrm>
            <a:off x="1657350" y="2143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 dirty="0">
                <a:solidFill>
                  <a:srgbClr val="202C36"/>
                </a:solidFill>
                <a:latin typeface="Menlo"/>
                <a:ea typeface="Menlo"/>
                <a:cs typeface="Menlo"/>
              </a:rPr>
              <a:t>n %/% 6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D560D98-350A-4F84-841E-9A7B213C5D51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D847FF-A3D4-4368-BEF9-2FC55A158978}"/>
              </a:ext>
            </a:extLst>
          </p:cNvPr>
          <p:cNvSpPr>
            <a:spLocks noGrp="1"/>
          </p:cNvSpPr>
          <p:nvPr/>
        </p:nvSpPr>
        <p:spPr>
          <a:xfrm>
            <a:off x="800100" y="3286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E7729E-CA48-4712-ACA1-FC4EBC11442F}"/>
              </a:ext>
            </a:extLst>
          </p:cNvPr>
          <p:cNvSpPr>
            <a:spLocks noGrp="1"/>
          </p:cNvSpPr>
          <p:nvPr/>
        </p:nvSpPr>
        <p:spPr>
          <a:xfrm>
            <a:off x="1657350" y="3286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round(n / 6)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BAE0D13-79A7-45AC-B983-E023F9192BB4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22DB6B-6C74-4968-B96A-6FF755C32706}"/>
              </a:ext>
            </a:extLst>
          </p:cNvPr>
          <p:cNvSpPr>
            <a:spLocks noGrp="1"/>
          </p:cNvSpPr>
          <p:nvPr/>
        </p:nvSpPr>
        <p:spPr>
          <a:xfrm>
            <a:off x="800100" y="4429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8093D7-2237-46BE-91D8-27FD08A59092}"/>
              </a:ext>
            </a:extLst>
          </p:cNvPr>
          <p:cNvSpPr>
            <a:spLocks noGrp="1"/>
          </p:cNvSpPr>
          <p:nvPr/>
        </p:nvSpPr>
        <p:spPr>
          <a:xfrm>
            <a:off x="1657350" y="4429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n %/% 6 + 1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79D3631-70D8-44E6-B934-1DA61E6A30E5}"/>
              </a:ext>
            </a:extLst>
          </p:cNvPr>
          <p:cNvSpPr>
            <a:spLocks noGrp="1"/>
          </p:cNvSpPr>
          <p:nvPr/>
        </p:nvSpPr>
        <p:spPr>
          <a:xfrm>
            <a:off x="876300" y="5543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6FA76D-A151-47CE-8741-9098A0293F9B}"/>
              </a:ext>
            </a:extLst>
          </p:cNvPr>
          <p:cNvSpPr>
            <a:spLocks noGrp="1"/>
          </p:cNvSpPr>
          <p:nvPr/>
        </p:nvSpPr>
        <p:spPr>
          <a:xfrm>
            <a:off x="800100" y="5572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868A18-FB56-465B-9020-9FB2B80DA2F7}"/>
              </a:ext>
            </a:extLst>
          </p:cNvPr>
          <p:cNvSpPr>
            <a:spLocks noGrp="1"/>
          </p:cNvSpPr>
          <p:nvPr/>
        </p:nvSpPr>
        <p:spPr>
          <a:xfrm>
            <a:off x="1657350" y="5572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ceiling(n / 6)</a:t>
            </a:r>
          </a:p>
        </p:txBody>
      </p:sp>
    </p:spTree>
    <p:extLst>
      <p:ext uri="{BB962C8B-B14F-4D97-AF65-F5344CB8AC3E}">
        <p14:creationId xmlns:p14="http://schemas.microsoft.com/office/powerpoint/2010/main" val="1079203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F2B549-AD24-4611-AC18-12B6DDF8AC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39E79F-2812-4231-A868-734A912BE27A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83005D-381F-42AC-A041-B0EAB95B34A6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15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7DB38F-56CA-4F08-AF8F-708ED6B8751F}"/>
              </a:ext>
            </a:extLst>
          </p:cNvPr>
          <p:cNvSpPr>
            <a:spLocks noGrp="1"/>
          </p:cNvSpPr>
          <p:nvPr/>
        </p:nvSpPr>
        <p:spPr>
          <a:xfrm>
            <a:off x="666749" y="647700"/>
            <a:ext cx="11136367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512"/>
          </a:bodyPr>
          <a:lstStyle/>
          <a:p>
            <a:pPr>
              <a:defRPr sz="4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Студент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хочет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округлить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число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8,246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до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целого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.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R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прочитает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эту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запись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238BC6-E499-4C08-A0EA-9703811F6EDA}"/>
              </a:ext>
            </a:extLst>
          </p:cNvPr>
          <p:cNvSpPr>
            <a:spLocks noGrp="1"/>
          </p:cNvSpPr>
          <p:nvPr/>
        </p:nvSpPr>
        <p:spPr>
          <a:xfrm>
            <a:off x="800100" y="2024226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>
                <a:solidFill>
                  <a:srgbClr val="F3F6F8"/>
                </a:solidFill>
                <a:latin typeface="Menlo"/>
                <a:ea typeface="Menlo"/>
                <a:cs typeface="Menlo"/>
              </a:rPr>
              <a:t>round(8,246)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FE3BCB-0A10-4EA5-BB7B-239BA7E7D6F2}"/>
              </a:ext>
            </a:extLst>
          </p:cNvPr>
          <p:cNvSpPr>
            <a:spLocks noGrp="1"/>
          </p:cNvSpPr>
          <p:nvPr/>
        </p:nvSpPr>
        <p:spPr>
          <a:xfrm>
            <a:off x="800100" y="2971800"/>
            <a:ext cx="666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66E5E-1C96-440E-BEE0-1319225EBC9F}"/>
              </a:ext>
            </a:extLst>
          </p:cNvPr>
          <p:cNvSpPr>
            <a:spLocks noGrp="1"/>
          </p:cNvSpPr>
          <p:nvPr/>
        </p:nvSpPr>
        <p:spPr>
          <a:xfrm>
            <a:off x="1657350" y="2971800"/>
            <a:ext cx="9988112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70"/>
          </a:bodyPr>
          <a:lstStyle/>
          <a:p>
            <a:pPr>
              <a:defRPr sz="39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2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Как</a:t>
            </a:r>
            <a:r>
              <a:rPr sz="32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32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вызов</a:t>
            </a:r>
            <a:r>
              <a:rPr sz="32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32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с</a:t>
            </a:r>
            <a:r>
              <a:rPr sz="32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32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двумя</a:t>
            </a:r>
            <a:r>
              <a:rPr sz="32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32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аргументами</a:t>
            </a:r>
            <a:r>
              <a:rPr sz="32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: 8 </a:t>
            </a:r>
            <a:r>
              <a:rPr sz="32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и</a:t>
            </a:r>
            <a:r>
              <a:rPr sz="32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246 </a:t>
            </a:r>
            <a:r>
              <a:rPr sz="32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для</a:t>
            </a:r>
            <a:r>
              <a:rPr sz="32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digits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8886AA4-3BB7-4C27-AE60-06E60CB193BD}"/>
              </a:ext>
            </a:extLst>
          </p:cNvPr>
          <p:cNvSpPr>
            <a:spLocks noGrp="1"/>
          </p:cNvSpPr>
          <p:nvPr/>
        </p:nvSpPr>
        <p:spPr>
          <a:xfrm>
            <a:off x="876300" y="387667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EBD987-9015-45D9-9A84-4A069D64D2A3}"/>
              </a:ext>
            </a:extLst>
          </p:cNvPr>
          <p:cNvSpPr>
            <a:spLocks noGrp="1"/>
          </p:cNvSpPr>
          <p:nvPr/>
        </p:nvSpPr>
        <p:spPr>
          <a:xfrm>
            <a:off x="800100" y="3905250"/>
            <a:ext cx="666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4ABAE-0C24-4C28-9433-E622319E772D}"/>
              </a:ext>
            </a:extLst>
          </p:cNvPr>
          <p:cNvSpPr>
            <a:spLocks noGrp="1"/>
          </p:cNvSpPr>
          <p:nvPr/>
        </p:nvSpPr>
        <p:spPr>
          <a:xfrm>
            <a:off x="1657350" y="3905250"/>
            <a:ext cx="9525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202C36"/>
                </a:solidFill>
                <a:latin typeface="Arial"/>
                <a:ea typeface="Arial"/>
                <a:cs typeface="Arial"/>
              </a:rPr>
              <a:t>Как округление числа 8,246 до целого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2D4AF9E-4344-42E7-9FA9-7CD8214EF5BD}"/>
              </a:ext>
            </a:extLst>
          </p:cNvPr>
          <p:cNvSpPr>
            <a:spLocks noGrp="1"/>
          </p:cNvSpPr>
          <p:nvPr/>
        </p:nvSpPr>
        <p:spPr>
          <a:xfrm>
            <a:off x="876300" y="48101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273F97-68A9-4768-8DEE-8F395E3E48C0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666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3C20A-23F9-48C0-A97F-8D5ACD7E6A5C}"/>
              </a:ext>
            </a:extLst>
          </p:cNvPr>
          <p:cNvSpPr>
            <a:spLocks noGrp="1"/>
          </p:cNvSpPr>
          <p:nvPr/>
        </p:nvSpPr>
        <p:spPr>
          <a:xfrm>
            <a:off x="1657350" y="4838700"/>
            <a:ext cx="9525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984"/>
          </a:bodyPr>
          <a:lstStyle/>
          <a:p>
            <a:pPr>
              <a:defRPr sz="39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202C36"/>
                </a:solidFill>
                <a:latin typeface="Arial"/>
                <a:ea typeface="Arial"/>
                <a:cs typeface="Arial"/>
              </a:rPr>
              <a:t>Как округление чисел 8 и 246 по отдельности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9CB86C2-AA9F-4633-A196-B9DDBEC1B174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DADC7D-72CC-4A0C-BC9D-8716DF765C0B}"/>
              </a:ext>
            </a:extLst>
          </p:cNvPr>
          <p:cNvSpPr>
            <a:spLocks noGrp="1"/>
          </p:cNvSpPr>
          <p:nvPr/>
        </p:nvSpPr>
        <p:spPr>
          <a:xfrm>
            <a:off x="800100" y="5772150"/>
            <a:ext cx="66675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38DC64-559A-4719-A4F3-F6EBA7D435AD}"/>
              </a:ext>
            </a:extLst>
          </p:cNvPr>
          <p:cNvSpPr>
            <a:spLocks noGrp="1"/>
          </p:cNvSpPr>
          <p:nvPr/>
        </p:nvSpPr>
        <p:spPr>
          <a:xfrm>
            <a:off x="1657350" y="5772150"/>
            <a:ext cx="95250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202C36"/>
                </a:solidFill>
                <a:latin typeface="Arial"/>
                <a:ea typeface="Arial"/>
                <a:cs typeface="Arial"/>
              </a:rPr>
              <a:t>Как синтаксическую ошибку</a:t>
            </a:r>
          </a:p>
        </p:txBody>
      </p:sp>
    </p:spTree>
    <p:extLst>
      <p:ext uri="{BB962C8B-B14F-4D97-AF65-F5344CB8AC3E}">
        <p14:creationId xmlns:p14="http://schemas.microsoft.com/office/powerpoint/2010/main" val="1395878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F7862C4-3DAC-48E2-AEBC-A104826995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2143C1-B10B-492F-8812-DD9D1B0820D4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8A0EE8-3113-4191-8E3B-F13FA11993E3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16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F355BF-B3F4-4A10-8956-78691B293D6B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1104836" cy="67660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30"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3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3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выведут</a:t>
            </a:r>
            <a:r>
              <a:rPr sz="3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две</a:t>
            </a:r>
            <a:r>
              <a:rPr sz="3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последние</a:t>
            </a:r>
            <a:r>
              <a:rPr sz="3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строки</a:t>
            </a:r>
            <a:r>
              <a:rPr sz="32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B96FAE-820C-4EA5-B6AA-2EFE6A4AA2FF}"/>
              </a:ext>
            </a:extLst>
          </p:cNvPr>
          <p:cNvSpPr>
            <a:spLocks noGrp="1"/>
          </p:cNvSpPr>
          <p:nvPr/>
        </p:nvSpPr>
        <p:spPr>
          <a:xfrm>
            <a:off x="800100" y="1446655"/>
            <a:ext cx="10287000" cy="1605454"/>
          </a:xfrm>
          <a:prstGeom prst="roundRect">
            <a:avLst>
              <a:gd name="adj" fmla="val 666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Autofit/>
          </a:bodyPr>
          <a:lstStyle/>
          <a:p>
            <a:pPr>
              <a:defRPr sz="1650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result &lt;- 0 / 0</a:t>
            </a:r>
          </a:p>
          <a:p>
            <a:endParaRPr sz="2400" dirty="0">
              <a:solidFill>
                <a:srgbClr val="F3F6F8"/>
              </a:solidFill>
              <a:latin typeface="Menlo"/>
              <a:ea typeface="Menlo"/>
              <a:cs typeface="Menlo"/>
            </a:endParaRPr>
          </a:p>
          <a:p>
            <a:pPr>
              <a:defRPr sz="1650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 err="1">
                <a:solidFill>
                  <a:srgbClr val="F3F6F8"/>
                </a:solidFill>
                <a:latin typeface="Menlo"/>
                <a:ea typeface="Menlo"/>
                <a:cs typeface="Menlo"/>
              </a:rPr>
              <a:t>is.na</a:t>
            </a: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(result)</a:t>
            </a:r>
          </a:p>
          <a:p>
            <a:pPr>
              <a:defRPr sz="1650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 err="1">
                <a:solidFill>
                  <a:srgbClr val="F3F6F8"/>
                </a:solidFill>
                <a:latin typeface="Menlo"/>
                <a:ea typeface="Menlo"/>
                <a:cs typeface="Menlo"/>
              </a:rPr>
              <a:t>is.nan</a:t>
            </a: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(result)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A8EA43-A35F-4CEC-811F-6448177FFA0F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666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B5D837-65BB-4096-9862-E42041985D75}"/>
              </a:ext>
            </a:extLst>
          </p:cNvPr>
          <p:cNvSpPr>
            <a:spLocks noGrp="1"/>
          </p:cNvSpPr>
          <p:nvPr/>
        </p:nvSpPr>
        <p:spPr>
          <a:xfrm>
            <a:off x="1657350" y="3419475"/>
            <a:ext cx="9525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000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TRUE и TRUE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DCE2831-53CA-4641-967C-72C635F20D01}"/>
              </a:ext>
            </a:extLst>
          </p:cNvPr>
          <p:cNvSpPr>
            <a:spLocks noGrp="1"/>
          </p:cNvSpPr>
          <p:nvPr/>
        </p:nvSpPr>
        <p:spPr>
          <a:xfrm>
            <a:off x="876300" y="421957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C5AEE0-B389-4C24-9E0B-A4308D69B835}"/>
              </a:ext>
            </a:extLst>
          </p:cNvPr>
          <p:cNvSpPr>
            <a:spLocks noGrp="1"/>
          </p:cNvSpPr>
          <p:nvPr/>
        </p:nvSpPr>
        <p:spPr>
          <a:xfrm>
            <a:off x="800100" y="4248150"/>
            <a:ext cx="666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6F3E2D-223B-4459-BE81-34EC79C707B0}"/>
              </a:ext>
            </a:extLst>
          </p:cNvPr>
          <p:cNvSpPr>
            <a:spLocks noGrp="1"/>
          </p:cNvSpPr>
          <p:nvPr/>
        </p:nvSpPr>
        <p:spPr>
          <a:xfrm>
            <a:off x="1657350" y="4248150"/>
            <a:ext cx="9525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000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FALSE и FALSE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6730AEE-4C0E-444A-8261-278C21E64A80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D72952-E704-47BD-B514-47DCED687144}"/>
              </a:ext>
            </a:extLst>
          </p:cNvPr>
          <p:cNvSpPr>
            <a:spLocks noGrp="1"/>
          </p:cNvSpPr>
          <p:nvPr/>
        </p:nvSpPr>
        <p:spPr>
          <a:xfrm>
            <a:off x="800100" y="5076825"/>
            <a:ext cx="666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3C4305-0D2E-4EE1-A6E2-C546248B07EF}"/>
              </a:ext>
            </a:extLst>
          </p:cNvPr>
          <p:cNvSpPr>
            <a:spLocks noGrp="1"/>
          </p:cNvSpPr>
          <p:nvPr/>
        </p:nvSpPr>
        <p:spPr>
          <a:xfrm>
            <a:off x="1657350" y="5076825"/>
            <a:ext cx="9525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000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TRUE и FALSE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627CFC2-9886-4504-9FCF-23D6E695D07C}"/>
              </a:ext>
            </a:extLst>
          </p:cNvPr>
          <p:cNvSpPr>
            <a:spLocks noGrp="1"/>
          </p:cNvSpPr>
          <p:nvPr/>
        </p:nvSpPr>
        <p:spPr>
          <a:xfrm>
            <a:off x="876300" y="58769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D1BC57-A7AF-4F08-883B-9003E5AD93E6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66675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A8ABF4-2221-4C88-9949-17D1D6F0CD38}"/>
              </a:ext>
            </a:extLst>
          </p:cNvPr>
          <p:cNvSpPr>
            <a:spLocks noGrp="1"/>
          </p:cNvSpPr>
          <p:nvPr/>
        </p:nvSpPr>
        <p:spPr>
          <a:xfrm>
            <a:off x="1657350" y="5905500"/>
            <a:ext cx="9525000" cy="771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000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FALSE и TRUE</a:t>
            </a:r>
          </a:p>
        </p:txBody>
      </p:sp>
    </p:spTree>
    <p:extLst>
      <p:ext uri="{BB962C8B-B14F-4D97-AF65-F5344CB8AC3E}">
        <p14:creationId xmlns:p14="http://schemas.microsoft.com/office/powerpoint/2010/main" val="1899110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9F2069A-BC47-4560-AFA8-C046EE46E4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05374D-7CE7-4255-A070-B9E7F46E7C09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C89270-3C17-4E12-A682-3DAF6FE04AB1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17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5096CE-6A7C-408B-8134-4BF1FF22FB39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4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Что</a:t>
            </a:r>
            <a:r>
              <a:rPr sz="44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вернёт</a:t>
            </a:r>
            <a:r>
              <a:rPr sz="44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последняя</a:t>
            </a:r>
            <a:r>
              <a:rPr sz="44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строка</a:t>
            </a:r>
            <a:r>
              <a:rPr sz="44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8FC6D2-28C3-45DF-895A-7E5F1A291317}"/>
              </a:ext>
            </a:extLst>
          </p:cNvPr>
          <p:cNvSpPr>
            <a:spLocks noGrp="1"/>
          </p:cNvSpPr>
          <p:nvPr/>
        </p:nvSpPr>
        <p:spPr>
          <a:xfrm>
            <a:off x="800100" y="1704975"/>
            <a:ext cx="10287000" cy="1028700"/>
          </a:xfrm>
          <a:prstGeom prst="roundRect">
            <a:avLst>
              <a:gd name="adj" fmla="val 9259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measurement &lt;- NA</a:t>
            </a:r>
          </a:p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 dirty="0">
                <a:solidFill>
                  <a:srgbClr val="F3F6F8"/>
                </a:solidFill>
                <a:latin typeface="Menlo"/>
                <a:ea typeface="Menlo"/>
                <a:cs typeface="Menlo"/>
              </a:rPr>
              <a:t>measurement !=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82E045-5405-4574-84F3-1265DC334564}"/>
              </a:ext>
            </a:extLst>
          </p:cNvPr>
          <p:cNvSpPr>
            <a:spLocks noGrp="1"/>
          </p:cNvSpPr>
          <p:nvPr/>
        </p:nvSpPr>
        <p:spPr>
          <a:xfrm>
            <a:off x="800100" y="3019425"/>
            <a:ext cx="6667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01653-F698-4707-8DA6-3552489AF453}"/>
              </a:ext>
            </a:extLst>
          </p:cNvPr>
          <p:cNvSpPr>
            <a:spLocks noGrp="1"/>
          </p:cNvSpPr>
          <p:nvPr/>
        </p:nvSpPr>
        <p:spPr>
          <a:xfrm>
            <a:off x="1657350" y="3019425"/>
            <a:ext cx="95250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755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 dirty="0">
                <a:solidFill>
                  <a:srgbClr val="202C36"/>
                </a:solidFill>
                <a:latin typeface="Menlo"/>
                <a:ea typeface="Menlo"/>
                <a:cs typeface="Menlo"/>
              </a:rPr>
              <a:t>TRUE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69D4ACD-AB1A-439E-BCAF-C0CE07855B57}"/>
              </a:ext>
            </a:extLst>
          </p:cNvPr>
          <p:cNvSpPr>
            <a:spLocks noGrp="1"/>
          </p:cNvSpPr>
          <p:nvPr/>
        </p:nvSpPr>
        <p:spPr>
          <a:xfrm>
            <a:off x="876300" y="391477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919AD-346D-4D7C-89B2-E7C08A7ED435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6667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DA79E-6B03-49C6-9FD4-FE2B9EC6830D}"/>
              </a:ext>
            </a:extLst>
          </p:cNvPr>
          <p:cNvSpPr>
            <a:spLocks noGrp="1"/>
          </p:cNvSpPr>
          <p:nvPr/>
        </p:nvSpPr>
        <p:spPr>
          <a:xfrm>
            <a:off x="1657350" y="3943350"/>
            <a:ext cx="95250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755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FALSE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B2982A9-895B-4786-B260-DB0D2870D6E1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EB4C5C-C35A-451D-B88D-161B02A7A53A}"/>
              </a:ext>
            </a:extLst>
          </p:cNvPr>
          <p:cNvSpPr>
            <a:spLocks noGrp="1"/>
          </p:cNvSpPr>
          <p:nvPr/>
        </p:nvSpPr>
        <p:spPr>
          <a:xfrm>
            <a:off x="800100" y="4867275"/>
            <a:ext cx="6667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94DEE9-A211-4BEA-A575-C6EA95062B30}"/>
              </a:ext>
            </a:extLst>
          </p:cNvPr>
          <p:cNvSpPr>
            <a:spLocks noGrp="1"/>
          </p:cNvSpPr>
          <p:nvPr/>
        </p:nvSpPr>
        <p:spPr>
          <a:xfrm>
            <a:off x="1657350" y="4867275"/>
            <a:ext cx="95250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755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NA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55ABEBB-9144-4DF1-8A6F-E7366624CF3D}"/>
              </a:ext>
            </a:extLst>
          </p:cNvPr>
          <p:cNvSpPr>
            <a:spLocks noGrp="1"/>
          </p:cNvSpPr>
          <p:nvPr/>
        </p:nvSpPr>
        <p:spPr>
          <a:xfrm>
            <a:off x="876300" y="57626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143337-B7E8-4927-B8AA-38B4CDCD1A9D}"/>
              </a:ext>
            </a:extLst>
          </p:cNvPr>
          <p:cNvSpPr>
            <a:spLocks noGrp="1"/>
          </p:cNvSpPr>
          <p:nvPr/>
        </p:nvSpPr>
        <p:spPr>
          <a:xfrm>
            <a:off x="800100" y="5791200"/>
            <a:ext cx="6667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7FC754-E1C2-406C-8ED6-68077D46F10A}"/>
              </a:ext>
            </a:extLst>
          </p:cNvPr>
          <p:cNvSpPr>
            <a:spLocks noGrp="1"/>
          </p:cNvSpPr>
          <p:nvPr/>
        </p:nvSpPr>
        <p:spPr>
          <a:xfrm>
            <a:off x="1657350" y="5791200"/>
            <a:ext cx="95250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755"/>
          </a:bodyPr>
          <a:lstStyle/>
          <a:p>
            <a:pPr>
              <a:defRPr sz="5100">
                <a:solidFill>
                  <a:srgbClr val="202C36"/>
                </a:solidFill>
                <a:latin typeface="Menlo"/>
                <a:ea typeface="Menlo"/>
                <a:cs typeface="Menlo"/>
              </a:defRPr>
            </a:pPr>
            <a:r>
              <a:rPr sz="3600">
                <a:solidFill>
                  <a:srgbClr val="202C36"/>
                </a:solidFill>
                <a:latin typeface="Menlo"/>
                <a:ea typeface="Menlo"/>
                <a:cs typeface="Menlo"/>
              </a:rPr>
              <a:t>Ошибку</a:t>
            </a:r>
          </a:p>
        </p:txBody>
      </p:sp>
    </p:spTree>
    <p:extLst>
      <p:ext uri="{BB962C8B-B14F-4D97-AF65-F5344CB8AC3E}">
        <p14:creationId xmlns:p14="http://schemas.microsoft.com/office/powerpoint/2010/main" val="873583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7319F-3A9F-4664-AFF1-E78467F57D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CCB043-CAB4-401F-A800-4C41C282706C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A84B5A-64E2-479D-9335-359BB7FC6ADB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18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AC60EE-F69B-451F-AD5E-8D68B55CCDC1}"/>
              </a:ext>
            </a:extLst>
          </p:cNvPr>
          <p:cNvSpPr>
            <a:spLocks noGrp="1"/>
          </p:cNvSpPr>
          <p:nvPr/>
        </p:nvSpPr>
        <p:spPr>
          <a:xfrm>
            <a:off x="666750" y="920969"/>
            <a:ext cx="10763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5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Что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увидите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,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запустив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код</a:t>
            </a:r>
            <a:r>
              <a:rPr sz="36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9E7492-6ABB-4CDC-B63B-B35EA71D695C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10287000" cy="733425"/>
          </a:xfrm>
          <a:prstGeom prst="roundRect">
            <a:avLst>
              <a:gd name="adj" fmla="val 12987"/>
            </a:avLst>
          </a:prstGeom>
          <a:solidFill>
            <a:srgbClr val="17212B"/>
          </a:solidFill>
          <a:ln w="0">
            <a:solidFill>
              <a:srgbClr val="17212B"/>
            </a:solidFill>
          </a:ln>
        </p:spPr>
        <p:txBody>
          <a:bodyPr anchor="ctr">
            <a:normAutofit/>
          </a:bodyPr>
          <a:lstStyle/>
          <a:p>
            <a:pPr>
              <a:defRPr sz="2025">
                <a:solidFill>
                  <a:srgbClr val="F3F6F8"/>
                </a:solidFill>
                <a:latin typeface="Menlo"/>
                <a:ea typeface="Menlo"/>
                <a:cs typeface="Menlo"/>
              </a:defRPr>
            </a:pPr>
            <a:r>
              <a:rPr sz="2400">
                <a:solidFill>
                  <a:srgbClr val="F3F6F8"/>
                </a:solidFill>
                <a:latin typeface="Menlo"/>
                <a:ea typeface="Menlo"/>
                <a:cs typeface="Menlo"/>
              </a:rPr>
              <a:t>variable &lt;- #text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D7CAF5-A7D9-4CA8-AF44-DA7951C738FA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2347-719E-42B4-925C-B8B1DAABBC98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5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46331CC-7F13-4C2D-9382-586756D33F20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A708E3-6E52-4079-BEE7-0EC23392E856}"/>
              </a:ext>
            </a:extLst>
          </p:cNvPr>
          <p:cNvSpPr>
            <a:spLocks noGrp="1"/>
          </p:cNvSpPr>
          <p:nvPr/>
        </p:nvSpPr>
        <p:spPr>
          <a:xfrm>
            <a:off x="800100" y="372427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AD0C3-2F44-4310-8053-DF3495639DBB}"/>
              </a:ext>
            </a:extLst>
          </p:cNvPr>
          <p:cNvSpPr>
            <a:spLocks noGrp="1"/>
          </p:cNvSpPr>
          <p:nvPr/>
        </p:nvSpPr>
        <p:spPr>
          <a:xfrm>
            <a:off x="1657350" y="372427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5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Приглашение</a:t>
            </a:r>
            <a:r>
              <a:rPr sz="36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36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дополнить</a:t>
            </a:r>
            <a:r>
              <a:rPr sz="36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36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код</a:t>
            </a:r>
            <a:endParaRPr sz="3600" dirty="0">
              <a:solidFill>
                <a:srgbClr val="202C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87B58BF-26F2-4101-A3A0-606E53963D4A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FE3916-1C1A-46EB-A83D-C8FAE795E47C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928A3E-98B4-4D81-86F7-ABDEC3A84B2D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5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Ничего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EF0466E-A80D-41DE-815A-ED900E6BFA5A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1B379E-A719-4B6B-A497-7FE2EA82CE68}"/>
              </a:ext>
            </a:extLst>
          </p:cNvPr>
          <p:cNvSpPr>
            <a:spLocks noGrp="1"/>
          </p:cNvSpPr>
          <p:nvPr/>
        </p:nvSpPr>
        <p:spPr>
          <a:xfrm>
            <a:off x="800100" y="5724525"/>
            <a:ext cx="66675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B2D017-7215-4117-936E-169CCF8F3DD5}"/>
              </a:ext>
            </a:extLst>
          </p:cNvPr>
          <p:cNvSpPr>
            <a:spLocks noGrp="1"/>
          </p:cNvSpPr>
          <p:nvPr/>
        </p:nvSpPr>
        <p:spPr>
          <a:xfrm>
            <a:off x="1657350" y="5724525"/>
            <a:ext cx="95250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5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#text</a:t>
            </a:r>
          </a:p>
        </p:txBody>
      </p:sp>
    </p:spTree>
    <p:extLst>
      <p:ext uri="{BB962C8B-B14F-4D97-AF65-F5344CB8AC3E}">
        <p14:creationId xmlns:p14="http://schemas.microsoft.com/office/powerpoint/2010/main" val="960031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777BCD4-A45F-43F4-B326-D1B78BB62D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2BA080-74E1-4A04-AF5F-EC52D18D42F1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51B994-72BC-454B-9CF6-4FABD773772B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19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570A3F-0D56-41DB-A0DB-6CDD12949B31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512"/>
          </a:bodyPr>
          <a:lstStyle/>
          <a:p>
            <a:pPr>
              <a:defRPr sz="4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Какой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элемент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нельзя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получить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только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средствами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Markdown-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разметки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1822F-A49B-4FDB-8D47-0EE1DD107198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1C13EE-9473-41DE-9C75-E0DEFE0F7371}"/>
              </a:ext>
            </a:extLst>
          </p:cNvPr>
          <p:cNvSpPr>
            <a:spLocks noGrp="1"/>
          </p:cNvSpPr>
          <p:nvPr/>
        </p:nvSpPr>
        <p:spPr>
          <a:xfrm>
            <a:off x="1657350" y="2143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5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Цитату</a:t>
            </a:r>
            <a:endParaRPr sz="3600" dirty="0">
              <a:solidFill>
                <a:srgbClr val="202C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A4F45A4-B2FC-4D32-BFA0-D43760C4D502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861320-775E-45B8-AF9C-EE24713BF9D5}"/>
              </a:ext>
            </a:extLst>
          </p:cNvPr>
          <p:cNvSpPr>
            <a:spLocks noGrp="1"/>
          </p:cNvSpPr>
          <p:nvPr/>
        </p:nvSpPr>
        <p:spPr>
          <a:xfrm>
            <a:off x="800100" y="3286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2DBDE8-6321-4139-9235-75E8C2892E5F}"/>
              </a:ext>
            </a:extLst>
          </p:cNvPr>
          <p:cNvSpPr>
            <a:spLocks noGrp="1"/>
          </p:cNvSpPr>
          <p:nvPr/>
        </p:nvSpPr>
        <p:spPr>
          <a:xfrm>
            <a:off x="1657350" y="3286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5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Маркированный список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6B21B78-49C9-4F1A-BEA0-EB3E5EB4D868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787297-1EF1-4370-8155-EA18D7D94551}"/>
              </a:ext>
            </a:extLst>
          </p:cNvPr>
          <p:cNvSpPr>
            <a:spLocks noGrp="1"/>
          </p:cNvSpPr>
          <p:nvPr/>
        </p:nvSpPr>
        <p:spPr>
          <a:xfrm>
            <a:off x="800100" y="4429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0224ED-81DA-412A-95A6-4E9F5EB3418B}"/>
              </a:ext>
            </a:extLst>
          </p:cNvPr>
          <p:cNvSpPr>
            <a:spLocks noGrp="1"/>
          </p:cNvSpPr>
          <p:nvPr/>
        </p:nvSpPr>
        <p:spPr>
          <a:xfrm>
            <a:off x="1657350" y="4429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5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Гиперссылку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F4B20613-A346-40CB-887F-09C2CBF5026C}"/>
              </a:ext>
            </a:extLst>
          </p:cNvPr>
          <p:cNvSpPr>
            <a:spLocks noGrp="1"/>
          </p:cNvSpPr>
          <p:nvPr/>
        </p:nvSpPr>
        <p:spPr>
          <a:xfrm>
            <a:off x="876300" y="5543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9F854B-7F5E-4DA0-92CC-5B182B0FE76E}"/>
              </a:ext>
            </a:extLst>
          </p:cNvPr>
          <p:cNvSpPr>
            <a:spLocks noGrp="1"/>
          </p:cNvSpPr>
          <p:nvPr/>
        </p:nvSpPr>
        <p:spPr>
          <a:xfrm>
            <a:off x="800100" y="5572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5B672D-6A2C-4DD0-A682-81EEC7A9100C}"/>
              </a:ext>
            </a:extLst>
          </p:cNvPr>
          <p:cNvSpPr>
            <a:spLocks noGrp="1"/>
          </p:cNvSpPr>
          <p:nvPr/>
        </p:nvSpPr>
        <p:spPr>
          <a:xfrm>
            <a:off x="1657350" y="5572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5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202C36"/>
                </a:solidFill>
                <a:latin typeface="Arial"/>
                <a:ea typeface="Arial"/>
                <a:cs typeface="Arial"/>
              </a:rPr>
              <a:t>Результат выполнения кода R</a:t>
            </a:r>
          </a:p>
        </p:txBody>
      </p:sp>
    </p:spTree>
    <p:extLst>
      <p:ext uri="{BB962C8B-B14F-4D97-AF65-F5344CB8AC3E}">
        <p14:creationId xmlns:p14="http://schemas.microsoft.com/office/powerpoint/2010/main" val="2023105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2D5DFD9-DD66-4173-9E00-4E82E6C14B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A7F78"/>
          </a:solidFill>
          <a:ln w="0">
            <a:solidFill>
              <a:srgbClr val="1A7F78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2323BE-B2B5-45DA-96F7-45E32BE73CEF}"/>
              </a:ext>
            </a:extLst>
          </p:cNvPr>
          <p:cNvSpPr>
            <a:spLocks noGrp="1"/>
          </p:cNvSpPr>
          <p:nvPr/>
        </p:nvSpPr>
        <p:spPr>
          <a:xfrm>
            <a:off x="666750" y="2667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A7F78"/>
                </a:solidFill>
                <a:latin typeface="Arial"/>
                <a:ea typeface="Arial"/>
                <a:cs typeface="Arial"/>
              </a:rPr>
              <a:t>R · ЗАНЯТИЕ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221AED-D6B3-45F8-87B7-D40E1B663EF4}"/>
              </a:ext>
            </a:extLst>
          </p:cNvPr>
          <p:cNvSpPr>
            <a:spLocks noGrp="1"/>
          </p:cNvSpPr>
          <p:nvPr/>
        </p:nvSpPr>
        <p:spPr>
          <a:xfrm>
            <a:off x="9048750" y="2667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 spc="1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66727C"/>
                </a:solidFill>
                <a:latin typeface="Arial"/>
                <a:ea typeface="Arial"/>
                <a:cs typeface="Arial"/>
              </a:rPr>
              <a:t>ВОПРОС 20 /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4BCC42-8EE1-4DFA-9495-F9C7E5075E72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763250" cy="1352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444"/>
          </a:bodyPr>
          <a:lstStyle/>
          <a:p>
            <a: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Что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нельзя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настроить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для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документа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Quarto (.</a:t>
            </a:r>
            <a:r>
              <a:rPr sz="400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qmd</a:t>
            </a:r>
            <a:r>
              <a:rPr sz="4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)?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F1EA1-491A-45C2-B0E3-AE82DB095B09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12B690-B9A3-4075-A852-BA2ED778DB04}"/>
              </a:ext>
            </a:extLst>
          </p:cNvPr>
          <p:cNvSpPr>
            <a:spLocks noGrp="1"/>
          </p:cNvSpPr>
          <p:nvPr/>
        </p:nvSpPr>
        <p:spPr>
          <a:xfrm>
            <a:off x="1657350" y="2143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54"/>
          </a:bodyPr>
          <a:lstStyle/>
          <a:p>
            <a:pPr>
              <a:defRPr sz="39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Формат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готового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документа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: HTML, Word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или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PDF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F7788D3-3B06-4746-BB65-B04468F361AA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B33B7F-EFC8-4AC3-A414-994C4572371E}"/>
              </a:ext>
            </a:extLst>
          </p:cNvPr>
          <p:cNvSpPr>
            <a:spLocks noGrp="1"/>
          </p:cNvSpPr>
          <p:nvPr/>
        </p:nvSpPr>
        <p:spPr>
          <a:xfrm>
            <a:off x="800100" y="3286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FDE0F5-58D6-4A53-9D37-0AD3261075E4}"/>
              </a:ext>
            </a:extLst>
          </p:cNvPr>
          <p:cNvSpPr>
            <a:spLocks noGrp="1"/>
          </p:cNvSpPr>
          <p:nvPr/>
        </p:nvSpPr>
        <p:spPr>
          <a:xfrm>
            <a:off x="1657350" y="3286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54"/>
          </a:bodyPr>
          <a:lstStyle/>
          <a:p>
            <a:pPr>
              <a:defRPr sz="39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2C36"/>
                </a:solidFill>
                <a:latin typeface="Arial"/>
                <a:ea typeface="Arial"/>
                <a:cs typeface="Arial"/>
              </a:rPr>
              <a:t>Отображение кода и результатов его выполнения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3C3CB35-5309-46DB-922A-C79111DAC951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521D15-3DD3-47BE-944E-D80620C4D80D}"/>
              </a:ext>
            </a:extLst>
          </p:cNvPr>
          <p:cNvSpPr>
            <a:spLocks noGrp="1"/>
          </p:cNvSpPr>
          <p:nvPr/>
        </p:nvSpPr>
        <p:spPr>
          <a:xfrm>
            <a:off x="800100" y="4429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12E19A-E522-42FA-8171-459CC9AF86F5}"/>
              </a:ext>
            </a:extLst>
          </p:cNvPr>
          <p:cNvSpPr>
            <a:spLocks noGrp="1"/>
          </p:cNvSpPr>
          <p:nvPr/>
        </p:nvSpPr>
        <p:spPr>
          <a:xfrm>
            <a:off x="1657350" y="4429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202C36"/>
                </a:solidFill>
                <a:latin typeface="Arial"/>
                <a:ea typeface="Arial"/>
                <a:cs typeface="Arial"/>
              </a:rPr>
              <a:t>Оглавление в готовом документе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C9CB17C-EFD2-4A0F-A51B-871F8F4D68FF}"/>
              </a:ext>
            </a:extLst>
          </p:cNvPr>
          <p:cNvSpPr>
            <a:spLocks noGrp="1"/>
          </p:cNvSpPr>
          <p:nvPr/>
        </p:nvSpPr>
        <p:spPr>
          <a:xfrm>
            <a:off x="876300" y="5543550"/>
            <a:ext cx="10439400" cy="0"/>
          </a:xfrm>
          <a:prstGeom prst="line">
            <a:avLst/>
          </a:prstGeom>
          <a:noFill/>
          <a:ln w="9525">
            <a:solidFill>
              <a:srgbClr val="D8DED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2518E8-DA9A-4A36-85AF-BA9EEAF604A2}"/>
              </a:ext>
            </a:extLst>
          </p:cNvPr>
          <p:cNvSpPr>
            <a:spLocks noGrp="1"/>
          </p:cNvSpPr>
          <p:nvPr/>
        </p:nvSpPr>
        <p:spPr>
          <a:xfrm>
            <a:off x="800100" y="5572125"/>
            <a:ext cx="6667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00" b="1">
                <a:solidFill>
                  <a:srgbClr val="1A7F7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7F78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64CAE7-A909-4D87-80ED-1226154E893A}"/>
              </a:ext>
            </a:extLst>
          </p:cNvPr>
          <p:cNvSpPr>
            <a:spLocks noGrp="1"/>
          </p:cNvSpPr>
          <p:nvPr/>
        </p:nvSpPr>
        <p:spPr>
          <a:xfrm>
            <a:off x="1657350" y="5572125"/>
            <a:ext cx="95250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54"/>
          </a:bodyPr>
          <a:lstStyle/>
          <a:p>
            <a:pPr>
              <a:defRPr sz="3900">
                <a:solidFill>
                  <a:srgbClr val="202C36"/>
                </a:solidFill>
                <a:latin typeface="Arial"/>
                <a:ea typeface="Arial"/>
                <a:cs typeface="Arial"/>
              </a:defRPr>
            </a:pP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Доступ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при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Render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к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объектам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только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из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текущей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</a:t>
            </a:r>
            <a:r>
              <a:rPr sz="2800" dirty="0" err="1">
                <a:solidFill>
                  <a:srgbClr val="202C36"/>
                </a:solidFill>
                <a:latin typeface="Arial"/>
                <a:ea typeface="Arial"/>
                <a:cs typeface="Arial"/>
              </a:rPr>
              <a:t>консоли</a:t>
            </a:r>
            <a:r>
              <a:rPr sz="2800" dirty="0">
                <a:solidFill>
                  <a:srgbClr val="202C36"/>
                </a:solidFill>
                <a:latin typeface="Arial"/>
                <a:ea typeface="Arial"/>
                <a:cs typeface="Arial"/>
              </a:rPr>
              <a:t> RStudio</a:t>
            </a:r>
          </a:p>
        </p:txBody>
      </p:sp>
    </p:spTree>
    <p:extLst>
      <p:ext uri="{BB962C8B-B14F-4D97-AF65-F5344CB8AC3E}">
        <p14:creationId xmlns:p14="http://schemas.microsoft.com/office/powerpoint/2010/main" val="17477376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1320</Words>
  <Application>Microsoft Macintosh PowerPoint</Application>
  <DocSecurity>0</DocSecurity>
  <PresentationFormat>Widescreen</PresentationFormat>
  <Paragraphs>308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Станин Владислав Андреевич</cp:lastModifiedBy>
  <cp:revision>3</cp:revision>
  <dcterms:created xsi:type="dcterms:W3CDTF">2026-09-15T18:20:50Z</dcterms:created>
  <dcterms:modified xsi:type="dcterms:W3CDTF">2026-09-15T18:33:17Z</dcterms:modified>
</cp:coreProperties>
</file>