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Баллы</c:v>
          </c:tx>
          <c:spPr>
            <a:solidFill>
              <a:srgbClr val="276DC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1111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</c:strLit>
          </c:cat>
          <c:val>
            <c:numLit>
              <c:formatCode>General</c:formatCode>
              <c:ptCount val="5"/>
              <c:pt idx="0">
                <c:v>72</c:v>
              </c:pt>
              <c:pt idx="1">
                <c:v>84</c:v>
              </c:pt>
              <c:pt idx="2">
                <c:v>91</c:v>
              </c:pt>
              <c:pt idx="3">
                <c:v>67</c:v>
              </c:pt>
              <c:pt idx="4">
                <c:v>88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3A0-9B40-9184-89053762CE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111111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1111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Откройте вопросом: что важнее в анализе данных — нажать правильную кнопку или уметь точно описать последовательность действий?</a:t>
            </a:r>
          </a:p>
          <a:p>
            <a:endParaRPr/>
          </a:p>
          <a:p>
            <a:r>
              <a:t>[Sources]</a:t>
            </a:r>
          </a:p>
          <a:p>
            <a:r>
              <a:t>- Pedro J. Aphalo, Learn R: As a Language, 2nd ed., Chapter 2, PDF pp. 27–40.</a:t>
            </a:r>
          </a:p>
          <a:p>
            <a:r>
              <a:t>- Cover illustration generated with OpenAI image generation on 2026-08-26; prompt recorded in source-notes.txt.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перегружайте датами. Важна логика перехода: S дал идеи языка; R сделал их свободными и расширяемыми; сообщество закрепило модель развития.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10–11 (PDF pp. 28–29).</a:t>
            </a:r>
          </a:p>
          <a:p>
            <a:r>
              <a:t>- R Project, What is R? https://www.r-project.org/about.html</a:t>
            </a:r>
          </a:p>
          <a:p>
            <a:r>
              <a:t>- R Project, Contributors. https://www.r-project.org/contributors.html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Здесь устраните типичную путаницу: R и RStudio не одно и то же. Сравните язык, двигатель и рабочее место.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10–14 (PDF pp. 28–32).</a:t>
            </a:r>
          </a:p>
          <a:p>
            <a:r>
              <a:t>- R Project, What is R? https://www.r-project.org/about.html</a:t>
            </a:r>
          </a:p>
          <a:p>
            <a:r>
              <a:t>- Official R logo: https://www.r-project.org/logo/Rlogo.svg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 не отрасли сами по себе, а общий тип задачи: исследовать данные, оценить неопределенность, построить модель и объяснить результат.</a:t>
            </a:r>
          </a:p>
          <a:p>
            <a:endParaRPr/>
          </a:p>
          <a:p>
            <a:r>
              <a:t>[Sources]</a:t>
            </a:r>
          </a:p>
          <a:p>
            <a:r>
              <a:t>- R Project, What is R? https://www.r-project.org/about.html</a:t>
            </a:r>
          </a:p>
          <a:p>
            <a:r>
              <a:t>- Aphalo, Learn R: As a Language, 2nd ed., Chapter 2, book p. 19 (PDF p. 37).</a:t>
            </a:r>
          </a:p>
          <a:p>
            <a:r>
              <a:t>- Applications illustration generated with OpenAI image generation on 2026-08-26; prompt recorded in source-notes.txt.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 естественный переход: сначала короткая проверка в консоли, затем сохранение работающих команд в скрипт. Эти способы дополняют друг друга.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12–18 (PDF pp. 30–36).</a:t>
            </a:r>
          </a:p>
          <a:p>
            <a:r>
              <a:t>- Posit, RStudio IDE User Guide. https://docs.posit.co/ide/user/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Представьте цикл как основу будущего курса. Анализ редко идет строго слева направо: после графика часто приходится вернуться к проверке или преобразованию данных.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18–20 (PDF pp. 36–38).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пытайтесь объяснить всю грамматику. Цель — дать четыре опорных слова, которые студенты будут узнавать в следующих примерах.</a:t>
            </a:r>
          </a:p>
          <a:p>
            <a:endParaRPr/>
          </a:p>
          <a:p>
            <a:r>
              <a:t>[Sources]</a:t>
            </a:r>
          </a:p>
          <a:p>
            <a:r>
              <a:t>- R Project, What is R? https://www.r-project.org/about.html</a:t>
            </a:r>
          </a:p>
          <a:p>
            <a:r>
              <a:t>- R Language Definition. https://cran.r-project.org/doc/manuals/r-release/R-lang.html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Пройдите по примеру слева направо. Важен не синтаксис каждой скобки, а связь: создаем объект, вызываем функцию, затем используем тот же объект для графика.</a:t>
            </a:r>
          </a:p>
          <a:p>
            <a:endParaRPr/>
          </a:p>
          <a:p>
            <a:r>
              <a:t>[Sources]</a:t>
            </a:r>
          </a:p>
          <a:p>
            <a:r>
              <a:t>- Original illustrative example authored for this presentation; mean(c(72,84,91,67,88)) = 80.4.</a:t>
            </a:r>
          </a:p>
          <a:p>
            <a:r>
              <a:t>- Base R functions c(), mean(), names(), and barplot(): https://stat.ethz.ch/R-manual/R-devel/library/base/html/00Index.html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Свяжите воспроизводимость не только с наукой, но и с любой ситуацией, где нужно объяснить, откуда взялся результат. Отдельно назовите автоматические отчеты.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18–20 (PDF pp. 36–38).</a:t>
            </a:r>
          </a:p>
          <a:p>
            <a:r>
              <a:t>- Quarto. https://quarto.org/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Покажите, что переход на сервер не меняет язык: меняются ресурсы и способ запуска. Это объясняет, зачем существуют фоновые и пакетные задания.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12 and 17–18 (PDF pp. 30 and 35–36).</a:t>
            </a:r>
          </a:p>
          <a:p>
            <a:r>
              <a:t>- R Project, What is R? https://www.r-project.org/about.html</a:t>
            </a:r>
          </a:p>
          <a:p>
            <a:r>
              <a:t>- Posit, RStudio Server. https://posit.co/products/open-source/rstudio-server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Сведите старт к минимальному набору действий. Не превращайте этот слайд в инструкцию по установке: версии и ссылки меняются, а принцип проекта и скрипта остается.</a:t>
            </a:r>
          </a:p>
          <a:p>
            <a:endParaRPr/>
          </a:p>
          <a:p>
            <a:r>
              <a:t>[Sources]</a:t>
            </a:r>
          </a:p>
          <a:p>
            <a:r>
              <a:t>- Aphalo, Learn R: As a Language, 2nd ed., Chapter 2, book pp. 20–21 (PDF pp. 38–39).</a:t>
            </a:r>
          </a:p>
          <a:p>
            <a:r>
              <a:t>- CRAN. https://cran.r-project.org/</a:t>
            </a:r>
          </a:p>
          <a:p>
            <a:r>
              <a:t>- Posit, RStudio IDE User Guide. https://docs.posit.co/ide/user/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Закройте тем же контрастом, с которого начали: не кнопка, а точное текстовое описание анализа. Затем предложите студентам сразу изменить пример и проверить гипотезу.</a:t>
            </a:r>
          </a:p>
          <a:p>
            <a:endParaRPr/>
          </a:p>
          <a:p>
            <a:r>
              <a:t>[Sources]</a:t>
            </a:r>
          </a:p>
          <a:p>
            <a:r>
              <a:t>- Synthesis based on Aphalo, Learn R: As a Language, 2nd ed., Chapter 2, especially book pp. 11 and 18–20 (PDF pp. 29 and 36–38).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11389" r="11389"/>
          <a:stretch>
            <a:fillRect/>
          </a:stretch>
        </p:blipFill>
        <p:spPr>
          <a:xfrm>
            <a:off x="6896100" y="0"/>
            <a:ext cx="52959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A9F95A-33CA-43C7-AED8-387BBFC264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961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41FEE-9575-40B4-85CE-F4A7F3A482D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ВВОДНАЯ ЛЕКЦИЯ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E3C55-FE6D-410D-9B51-D995EA9D368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61912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60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1A91CF-104A-4352-ADF9-696284C4BB2F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5391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области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применения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рабочий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процесс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первые</a:t>
            </a:r>
            <a:r>
              <a:rPr sz="187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команды</a:t>
            </a:r>
            <a:endParaRPr sz="1875" b="0" dirty="0">
              <a:solidFill>
                <a:srgbClr val="6666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C9D2136-94D1-4CFF-A366-A57DD39D9E7D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181100" cy="0"/>
          </a:xfrm>
          <a:prstGeom prst="line">
            <a:avLst/>
          </a:prstGeom>
          <a:noFill/>
          <a:ln w="47625">
            <a:solidFill>
              <a:srgbClr val="276DC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0DDFA-0B56-4D60-B0E1-E1956937FBB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Для</a:t>
            </a:r>
            <a:r>
              <a:rPr sz="13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студентов</a:t>
            </a:r>
            <a:r>
              <a:rPr sz="13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3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которые</a:t>
            </a:r>
            <a:r>
              <a:rPr sz="13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впервые</a:t>
            </a:r>
            <a:r>
              <a:rPr sz="13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знакомятся</a:t>
            </a:r>
            <a:r>
              <a:rPr sz="13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</a:t>
            </a:r>
            <a:r>
              <a:rPr sz="13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R</a:t>
            </a:r>
          </a:p>
        </p:txBody>
      </p:sp>
    </p:spTree>
    <p:extLst>
      <p:ext uri="{BB962C8B-B14F-4D97-AF65-F5344CB8AC3E}">
        <p14:creationId xmlns:p14="http://schemas.microsoft.com/office/powerpoint/2010/main" val="183075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3960BE9-1093-4A20-9CB8-17310BB9C50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 вырос из S и стал открытой платформой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DA05444-8E38-4639-BFC5-A46FA24B7BB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3A70E-9249-4CE3-B6DD-B0702F38201F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ED787B4-40AC-42C8-8C65-3B73ACFB712D}"/>
              </a:ext>
            </a:extLst>
          </p:cNvPr>
          <p:cNvSpPr>
            <a:spLocks noGrp="1"/>
          </p:cNvSpPr>
          <p:nvPr/>
        </p:nvSpPr>
        <p:spPr>
          <a:xfrm>
            <a:off x="971550" y="3276600"/>
            <a:ext cx="10248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614EDD-E257-41A4-9047-14AACFF5DF4A}"/>
              </a:ext>
            </a:extLst>
          </p:cNvPr>
          <p:cNvSpPr>
            <a:spLocks noGrp="1"/>
          </p:cNvSpPr>
          <p:nvPr/>
        </p:nvSpPr>
        <p:spPr>
          <a:xfrm>
            <a:off x="1219200" y="31813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3D0CE-B7AF-411B-AD85-451D1FF435FA}"/>
              </a:ext>
            </a:extLst>
          </p:cNvPr>
          <p:cNvSpPr>
            <a:spLocks noGrp="1"/>
          </p:cNvSpPr>
          <p:nvPr/>
        </p:nvSpPr>
        <p:spPr>
          <a:xfrm>
            <a:off x="1200150" y="25336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1970–80-е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7A530-2C7F-4D94-8F1C-BFF7814B2863}"/>
              </a:ext>
            </a:extLst>
          </p:cNvPr>
          <p:cNvSpPr>
            <a:spLocks noGrp="1"/>
          </p:cNvSpPr>
          <p:nvPr/>
        </p:nvSpPr>
        <p:spPr>
          <a:xfrm>
            <a:off x="1200150" y="3714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 в Bell Labs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035EF5-9D0D-4659-BC54-3D9FC99728EB}"/>
              </a:ext>
            </a:extLst>
          </p:cNvPr>
          <p:cNvSpPr>
            <a:spLocks noGrp="1"/>
          </p:cNvSpPr>
          <p:nvPr/>
        </p:nvSpPr>
        <p:spPr>
          <a:xfrm>
            <a:off x="1200150" y="4305300"/>
            <a:ext cx="2781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Язык S создавался для статистических вычислений и графики.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6EAD4AF-E5D2-4F0E-B09F-97EE7949C8EE}"/>
              </a:ext>
            </a:extLst>
          </p:cNvPr>
          <p:cNvSpPr>
            <a:spLocks noGrp="1"/>
          </p:cNvSpPr>
          <p:nvPr/>
        </p:nvSpPr>
        <p:spPr>
          <a:xfrm>
            <a:off x="4724400" y="31813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686077-7B05-4B83-A1C1-88067ECD1FBD}"/>
              </a:ext>
            </a:extLst>
          </p:cNvPr>
          <p:cNvSpPr>
            <a:spLocks noGrp="1"/>
          </p:cNvSpPr>
          <p:nvPr/>
        </p:nvSpPr>
        <p:spPr>
          <a:xfrm>
            <a:off x="4705350" y="25336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1990-е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4FE755-AFE3-4343-8163-202AAD4AFBCD}"/>
              </a:ext>
            </a:extLst>
          </p:cNvPr>
          <p:cNvSpPr>
            <a:spLocks noGrp="1"/>
          </p:cNvSpPr>
          <p:nvPr/>
        </p:nvSpPr>
        <p:spPr>
          <a:xfrm>
            <a:off x="4705350" y="3714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 в Окленде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0B439-AF37-4454-90AC-26B300C8701B}"/>
              </a:ext>
            </a:extLst>
          </p:cNvPr>
          <p:cNvSpPr>
            <a:spLocks noGrp="1"/>
          </p:cNvSpPr>
          <p:nvPr/>
        </p:nvSpPr>
        <p:spPr>
          <a:xfrm>
            <a:off x="4705350" y="4305300"/>
            <a:ext cx="2781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Росс Ихэка и Роберт Джентльмен разработали свободную реализацию идей 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D328EEC-102C-4886-9D5D-8FB1B92AF83E}"/>
              </a:ext>
            </a:extLst>
          </p:cNvPr>
          <p:cNvSpPr>
            <a:spLocks noGrp="1"/>
          </p:cNvSpPr>
          <p:nvPr/>
        </p:nvSpPr>
        <p:spPr>
          <a:xfrm>
            <a:off x="8229600" y="31813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066297-60D4-494B-9FCE-93B51E53B2D7}"/>
              </a:ext>
            </a:extLst>
          </p:cNvPr>
          <p:cNvSpPr>
            <a:spLocks noGrp="1"/>
          </p:cNvSpPr>
          <p:nvPr/>
        </p:nvSpPr>
        <p:spPr>
          <a:xfrm>
            <a:off x="8210550" y="25336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 1997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13AE00-A16A-47AF-BB6D-A809D51C8C36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 Core и сообщество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630A2B-8059-4825-8793-73944A794782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Открытая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разработка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пакеты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превратили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R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в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расширяемую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экосистему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EB7588-D456-4012-949B-857A9A3A13C7}"/>
              </a:ext>
            </a:extLst>
          </p:cNvPr>
          <p:cNvSpPr>
            <a:spLocks noGrp="1"/>
          </p:cNvSpPr>
          <p:nvPr/>
        </p:nvSpPr>
        <p:spPr>
          <a:xfrm>
            <a:off x="1219200" y="5753099"/>
            <a:ext cx="9620250" cy="685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Главный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поворот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—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анализ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данных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стал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не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закрытой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программой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а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языком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который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можно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расширять</a:t>
            </a:r>
            <a:r>
              <a:rPr sz="1800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147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6A5BA7-9EF0-45E2-A372-2A2805396F9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 — язык, программа и экосистема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611F262-2916-4713-B31B-79D3D2BAAA87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BD79D-7B2D-49F5-9E71-E7162E9F93EA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58175" y="1464666"/>
            <a:ext cx="2857500" cy="22141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3A527F-6923-4692-8B94-B6474316AAE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9A574-004C-4D0D-A898-AC0E4B778A3D}"/>
              </a:ext>
            </a:extLst>
          </p:cNvPr>
          <p:cNvSpPr>
            <a:spLocks noGrp="1"/>
          </p:cNvSpPr>
          <p:nvPr/>
        </p:nvSpPr>
        <p:spPr>
          <a:xfrm>
            <a:off x="1257300" y="15811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Язык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233DE-32C0-429B-9E65-436F8A77BF06}"/>
              </a:ext>
            </a:extLst>
          </p:cNvPr>
          <p:cNvSpPr>
            <a:spLocks noGrp="1"/>
          </p:cNvSpPr>
          <p:nvPr/>
        </p:nvSpPr>
        <p:spPr>
          <a:xfrm>
            <a:off x="3409950" y="1581150"/>
            <a:ext cx="4191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Синтаксис, объекты, функции и правила, с помощью которых мы описываем анализ.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533876D-45FF-49AE-A05C-8800C543C32A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699135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E01186-8907-47EA-9262-9BE3924AD6CD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59DF6-2DD4-4143-B84E-B2E5D2CA94EE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Программа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7A1EF-C43B-4A27-9495-9716B152A0B8}"/>
              </a:ext>
            </a:extLst>
          </p:cNvPr>
          <p:cNvSpPr>
            <a:spLocks noGrp="1"/>
          </p:cNvSpPr>
          <p:nvPr/>
        </p:nvSpPr>
        <p:spPr>
          <a:xfrm>
            <a:off x="3409950" y="3048000"/>
            <a:ext cx="4191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Интерпретатор выполняет команды R и возвращает числа, таблицы и графики.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A7A3C4B-9CA7-4052-8E14-0B797D3E5120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699135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15B82-5CA0-4FED-90F4-C081C96133CE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FE742-F72D-4081-9C8D-75E4ADA41478}"/>
              </a:ext>
            </a:extLst>
          </p:cNvPr>
          <p:cNvSpPr>
            <a:spLocks noGrp="1"/>
          </p:cNvSpPr>
          <p:nvPr/>
        </p:nvSpPr>
        <p:spPr>
          <a:xfrm>
            <a:off x="1257300" y="45148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304301-87E4-41A6-B928-2F4C52A1ED46}"/>
              </a:ext>
            </a:extLst>
          </p:cNvPr>
          <p:cNvSpPr>
            <a:spLocks noGrp="1"/>
          </p:cNvSpPr>
          <p:nvPr/>
        </p:nvSpPr>
        <p:spPr>
          <a:xfrm>
            <a:off x="3409950" y="4514850"/>
            <a:ext cx="4191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Пакеты добавляют методы анализа, визуализацию, отчеты, приложения и связи с другими системами.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1AA5CA-3451-4B8D-96D1-FA040DF13256}"/>
              </a:ext>
            </a:extLst>
          </p:cNvPr>
          <p:cNvSpPr>
            <a:spLocks noGrp="1"/>
          </p:cNvSpPr>
          <p:nvPr/>
        </p:nvSpPr>
        <p:spPr>
          <a:xfrm>
            <a:off x="8172450" y="4267200"/>
            <a:ext cx="3409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RStudio —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удобная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среда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но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вычисления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выполняет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сама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программа</a:t>
            </a:r>
            <a:r>
              <a:rPr sz="17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R.</a:t>
            </a:r>
          </a:p>
        </p:txBody>
      </p:sp>
    </p:spTree>
    <p:extLst>
      <p:ext uri="{BB962C8B-B14F-4D97-AF65-F5344CB8AC3E}">
        <p14:creationId xmlns:p14="http://schemas.microsoft.com/office/powerpoint/2010/main" val="102437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916F16-9918-4ADB-B561-ABBAA99A07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 связывает данные с решениями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E8AA88D-689E-4D7F-BADA-BA3A207257F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942D1-40D2-4E13-B2F8-1B789B6D0AD3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23779" b="23779"/>
          <a:stretch>
            <a:fillRect/>
          </a:stretch>
        </p:blipFill>
        <p:spPr>
          <a:xfrm>
            <a:off x="609600" y="1504950"/>
            <a:ext cx="10972800" cy="3238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4C4FBF-7A0C-4152-AF0F-D0DC77519D5D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Наука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AEB87-4164-4465-9B3F-CDA71514ADBD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2343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эксперименты, биология, экология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707F8-C554-4D33-B0E9-DABA1DD4AC63}"/>
              </a:ext>
            </a:extLst>
          </p:cNvPr>
          <p:cNvSpPr>
            <a:spLocks noGrp="1"/>
          </p:cNvSpPr>
          <p:nvPr/>
        </p:nvSpPr>
        <p:spPr>
          <a:xfrm>
            <a:off x="3352800" y="5067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Здоровье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DA2BC9-3FC2-4F2F-BB2C-0BB276125CDC}"/>
              </a:ext>
            </a:extLst>
          </p:cNvPr>
          <p:cNvSpPr>
            <a:spLocks noGrp="1"/>
          </p:cNvSpPr>
          <p:nvPr/>
        </p:nvSpPr>
        <p:spPr>
          <a:xfrm>
            <a:off x="3352800" y="5467350"/>
            <a:ext cx="2343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исследования и биостатистика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0A4EE-1E29-4A70-B593-37DF7686D316}"/>
              </a:ext>
            </a:extLst>
          </p:cNvPr>
          <p:cNvSpPr>
            <a:spLocks noGrp="1"/>
          </p:cNvSpPr>
          <p:nvPr/>
        </p:nvSpPr>
        <p:spPr>
          <a:xfrm>
            <a:off x="6096000" y="5067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Общество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50AEEA-629E-4025-A33C-D08794D37F9C}"/>
              </a:ext>
            </a:extLst>
          </p:cNvPr>
          <p:cNvSpPr>
            <a:spLocks noGrp="1"/>
          </p:cNvSpPr>
          <p:nvPr/>
        </p:nvSpPr>
        <p:spPr>
          <a:xfrm>
            <a:off x="6096000" y="5467350"/>
            <a:ext cx="2343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опросы, демография, политика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A86C94-9F3B-4876-92ED-B584146366C1}"/>
              </a:ext>
            </a:extLst>
          </p:cNvPr>
          <p:cNvSpPr>
            <a:spLocks noGrp="1"/>
          </p:cNvSpPr>
          <p:nvPr/>
        </p:nvSpPr>
        <p:spPr>
          <a:xfrm>
            <a:off x="8839200" y="5067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Бизнес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32F33-9837-4C82-85EF-07B386434DC8}"/>
              </a:ext>
            </a:extLst>
          </p:cNvPr>
          <p:cNvSpPr>
            <a:spLocks noGrp="1"/>
          </p:cNvSpPr>
          <p:nvPr/>
        </p:nvSpPr>
        <p:spPr>
          <a:xfrm>
            <a:off x="8839200" y="5467350"/>
            <a:ext cx="2343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прогнозирование и принятие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123755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794DA1C-432E-4A34-AB07-F12949C437C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Работа в R: исследовать, сохранить, повторить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8BE571B-91BE-4D4D-A8D3-8AB952B51677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DD9D2-7E65-43AF-A68F-B4E4ABA093F6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C6CC1-3EED-41AD-AA0A-1D571A9B4D07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ИНТЕРАКТИВНО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4B54D-4C31-4FA6-AA55-8EFF0F7BAD42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4895850" cy="278130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CDE4C4-53FE-4FE9-8371-427568805418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КОНСОЛЬ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AD5793-CD97-4F9B-AE1B-ABFE2F66966F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000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&gt; mean(c(2, 4, 6))</a:t>
            </a:r>
          </a:p>
          <a:p>
            <a:pPr algn="l"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[1] 4</a:t>
            </a:r>
          </a:p>
          <a:p>
            <a:endParaRPr sz="2025" b="0" dirty="0">
              <a:solidFill>
                <a:srgbClr val="111111"/>
              </a:solidFill>
              <a:latin typeface="Menlo"/>
              <a:ea typeface="Menlo"/>
              <a:cs typeface="Menlo"/>
            </a:endParaRPr>
          </a:p>
          <a:p>
            <a:pPr algn="l"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&gt; help(mean)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CBFAF-ED85-40C1-BDDD-110B96B846BF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416866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Проверяем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команды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сразу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видим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ответ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55975E-ABD7-4034-A425-94D2E181DC41}"/>
              </a:ext>
            </a:extLst>
          </p:cNvPr>
          <p:cNvSpPr>
            <a:spLocks noGrp="1"/>
          </p:cNvSpPr>
          <p:nvPr/>
        </p:nvSpPr>
        <p:spPr>
          <a:xfrm>
            <a:off x="6229350" y="1466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СОХРАНЯЕМ РЕШЕНИЕ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E5962-725D-46A1-8A61-014568A41E69}"/>
              </a:ext>
            </a:extLst>
          </p:cNvPr>
          <p:cNvSpPr>
            <a:spLocks noGrp="1"/>
          </p:cNvSpPr>
          <p:nvPr/>
        </p:nvSpPr>
        <p:spPr>
          <a:xfrm>
            <a:off x="6115050" y="1828800"/>
            <a:ext cx="5467350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03B14D-80EE-44EE-9252-FE8DA160DAF7}"/>
              </a:ext>
            </a:extLst>
          </p:cNvPr>
          <p:cNvSpPr>
            <a:spLocks noGrp="1"/>
          </p:cNvSpPr>
          <p:nvPr/>
        </p:nvSpPr>
        <p:spPr>
          <a:xfrm>
            <a:off x="638175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SCRIPT.R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79A6A1-1987-4D05-AC57-973BC91DA63B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4667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x &lt;- c(2, 4, 6)</a:t>
            </a:r>
          </a:p>
          <a:p>
            <a:pPr algn="l"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result &lt;- mean(x)</a:t>
            </a:r>
          </a:p>
          <a:p>
            <a:pPr algn="l"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print(result)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E1D7F0-255A-4AA7-B513-2E84BB9A377D}"/>
              </a:ext>
            </a:extLst>
          </p:cNvPr>
          <p:cNvSpPr>
            <a:spLocks noGrp="1"/>
          </p:cNvSpPr>
          <p:nvPr/>
        </p:nvSpPr>
        <p:spPr>
          <a:xfrm>
            <a:off x="6381750" y="39433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Скрипт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можно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запустить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снова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изменить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передать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другому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человеку</a:t>
            </a:r>
            <a:r>
              <a:rPr sz="15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9FF79-2565-4DFD-A8E1-4A0EB29CECAF}"/>
              </a:ext>
            </a:extLst>
          </p:cNvPr>
          <p:cNvSpPr>
            <a:spLocks noGrp="1"/>
          </p:cNvSpPr>
          <p:nvPr/>
        </p:nvSpPr>
        <p:spPr>
          <a:xfrm>
            <a:off x="704850" y="5162550"/>
            <a:ext cx="10648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IDE, например RStudio, объединяет редактор, консоль, графики, файлы и справку — но вычисления выполняет R.</a:t>
            </a:r>
          </a:p>
        </p:txBody>
      </p:sp>
    </p:spTree>
    <p:extLst>
      <p:ext uri="{BB962C8B-B14F-4D97-AF65-F5344CB8AC3E}">
        <p14:creationId xmlns:p14="http://schemas.microsoft.com/office/powerpoint/2010/main" val="105987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612E345-385F-48AE-A2DA-4FD3B42383D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Анализ в R — это повторяемый цикл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2301935-CEAE-48C5-A77E-1FB341F04146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DE82D-1FC7-40F2-A970-469EC447C55A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0C201D-D2D0-430C-8ABD-4C120701A846}"/>
              </a:ext>
            </a:extLst>
          </p:cNvPr>
          <p:cNvSpPr>
            <a:spLocks noGrp="1"/>
          </p:cNvSpPr>
          <p:nvPr/>
        </p:nvSpPr>
        <p:spPr>
          <a:xfrm>
            <a:off x="1143000" y="3200400"/>
            <a:ext cx="9906000" cy="0"/>
          </a:xfrm>
          <a:prstGeom prst="line">
            <a:avLst/>
          </a:prstGeom>
          <a:noFill/>
          <a:ln w="19050">
            <a:solidFill>
              <a:srgbClr val="A7A7A2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BEC73D-F339-4B3A-877D-EA2051F81A8C}"/>
              </a:ext>
            </a:extLst>
          </p:cNvPr>
          <p:cNvSpPr>
            <a:spLocks noGrp="1"/>
          </p:cNvSpPr>
          <p:nvPr/>
        </p:nvSpPr>
        <p:spPr>
          <a:xfrm>
            <a:off x="971550" y="3009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20B5D4-3950-4A7E-87DC-B4BF1A9337C7}"/>
              </a:ext>
            </a:extLst>
          </p:cNvPr>
          <p:cNvSpPr>
            <a:spLocks noGrp="1"/>
          </p:cNvSpPr>
          <p:nvPr/>
        </p:nvSpPr>
        <p:spPr>
          <a:xfrm>
            <a:off x="1076325" y="3095625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2EEB7-B268-4D85-AF25-DA8C00A88906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Получить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6E134-5168-45A0-9799-0B505D1B7F85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файлы</a:t>
            </a:r>
            <a:r>
              <a:rPr sz="14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базы</a:t>
            </a:r>
            <a:r>
              <a:rPr sz="14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измерения</a:t>
            </a:r>
            <a:endParaRPr sz="1425" b="0" dirty="0">
              <a:solidFill>
                <a:srgbClr val="6666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CBE105-369E-48B8-856E-DB2337EDB788}"/>
              </a:ext>
            </a:extLst>
          </p:cNvPr>
          <p:cNvSpPr>
            <a:spLocks noGrp="1"/>
          </p:cNvSpPr>
          <p:nvPr/>
        </p:nvSpPr>
        <p:spPr>
          <a:xfrm>
            <a:off x="3086100" y="3009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52C4E2-A365-4DBD-ACE4-9936B67C6D9D}"/>
              </a:ext>
            </a:extLst>
          </p:cNvPr>
          <p:cNvSpPr>
            <a:spLocks noGrp="1"/>
          </p:cNvSpPr>
          <p:nvPr/>
        </p:nvSpPr>
        <p:spPr>
          <a:xfrm>
            <a:off x="3190875" y="3095625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E66B78-64F1-4216-93F3-FDC2D50C815B}"/>
              </a:ext>
            </a:extLst>
          </p:cNvPr>
          <p:cNvSpPr>
            <a:spLocks noGrp="1"/>
          </p:cNvSpPr>
          <p:nvPr/>
        </p:nvSpPr>
        <p:spPr>
          <a:xfrm>
            <a:off x="2990850" y="220980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34CF1E-DB80-49D1-A1E7-F5084A9E73CA}"/>
              </a:ext>
            </a:extLst>
          </p:cNvPr>
          <p:cNvSpPr>
            <a:spLocks noGrp="1"/>
          </p:cNvSpPr>
          <p:nvPr/>
        </p:nvSpPr>
        <p:spPr>
          <a:xfrm>
            <a:off x="2990850" y="367665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структуру и качество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0ABA28-30AD-488E-8BF5-8EBE5E60966F}"/>
              </a:ext>
            </a:extLst>
          </p:cNvPr>
          <p:cNvSpPr>
            <a:spLocks noGrp="1"/>
          </p:cNvSpPr>
          <p:nvPr/>
        </p:nvSpPr>
        <p:spPr>
          <a:xfrm>
            <a:off x="5200650" y="3009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802ABA-3A3D-4BE7-ABFF-69B967ADD7C6}"/>
              </a:ext>
            </a:extLst>
          </p:cNvPr>
          <p:cNvSpPr>
            <a:spLocks noGrp="1"/>
          </p:cNvSpPr>
          <p:nvPr/>
        </p:nvSpPr>
        <p:spPr>
          <a:xfrm>
            <a:off x="5305425" y="3095625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38B3A4-0E72-4562-8CC2-30B20142E320}"/>
              </a:ext>
            </a:extLst>
          </p:cNvPr>
          <p:cNvSpPr>
            <a:spLocks noGrp="1"/>
          </p:cNvSpPr>
          <p:nvPr/>
        </p:nvSpPr>
        <p:spPr>
          <a:xfrm>
            <a:off x="5105400" y="220980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Подготовить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C247C9-F6EB-4DBF-AEC5-43AB6120596B}"/>
              </a:ext>
            </a:extLst>
          </p:cNvPr>
          <p:cNvSpPr>
            <a:spLocks noGrp="1"/>
          </p:cNvSpPr>
          <p:nvPr/>
        </p:nvSpPr>
        <p:spPr>
          <a:xfrm>
            <a:off x="5105400" y="367665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очистить и связать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3D8F5D3-C116-48CB-9C96-F5CDF0C65994}"/>
              </a:ext>
            </a:extLst>
          </p:cNvPr>
          <p:cNvSpPr>
            <a:spLocks noGrp="1"/>
          </p:cNvSpPr>
          <p:nvPr/>
        </p:nvSpPr>
        <p:spPr>
          <a:xfrm>
            <a:off x="7315200" y="3009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276DC3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9E9D93-B27E-4FFE-A569-E83F9F97906B}"/>
              </a:ext>
            </a:extLst>
          </p:cNvPr>
          <p:cNvSpPr>
            <a:spLocks noGrp="1"/>
          </p:cNvSpPr>
          <p:nvPr/>
        </p:nvSpPr>
        <p:spPr>
          <a:xfrm>
            <a:off x="7419975" y="3095625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319F0D-1D0D-439A-8613-57429E6F665B}"/>
              </a:ext>
            </a:extLst>
          </p:cNvPr>
          <p:cNvSpPr>
            <a:spLocks noGrp="1"/>
          </p:cNvSpPr>
          <p:nvPr/>
        </p:nvSpPr>
        <p:spPr>
          <a:xfrm>
            <a:off x="7219950" y="220980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Исследовать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4273BB-CE1C-452D-A39A-1CBED066BD2A}"/>
              </a:ext>
            </a:extLst>
          </p:cNvPr>
          <p:cNvSpPr>
            <a:spLocks noGrp="1"/>
          </p:cNvSpPr>
          <p:nvPr/>
        </p:nvSpPr>
        <p:spPr>
          <a:xfrm>
            <a:off x="7219950" y="367665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графики и модели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886F774-A52F-4438-AED1-F4440F0DE7CF}"/>
              </a:ext>
            </a:extLst>
          </p:cNvPr>
          <p:cNvSpPr>
            <a:spLocks noGrp="1"/>
          </p:cNvSpPr>
          <p:nvPr/>
        </p:nvSpPr>
        <p:spPr>
          <a:xfrm>
            <a:off x="9429750" y="3009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0F35BF-6923-4B2A-85D7-0168E1AF6FB0}"/>
              </a:ext>
            </a:extLst>
          </p:cNvPr>
          <p:cNvSpPr>
            <a:spLocks noGrp="1"/>
          </p:cNvSpPr>
          <p:nvPr/>
        </p:nvSpPr>
        <p:spPr>
          <a:xfrm>
            <a:off x="9534525" y="3095625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E8C1E5-9F47-4A83-B165-1F8B3AAE1176}"/>
              </a:ext>
            </a:extLst>
          </p:cNvPr>
          <p:cNvSpPr>
            <a:spLocks noGrp="1"/>
          </p:cNvSpPr>
          <p:nvPr/>
        </p:nvSpPr>
        <p:spPr>
          <a:xfrm>
            <a:off x="9334500" y="220980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Сообщить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1F7AB0-2176-494E-9F4D-3FE8EFC6856E}"/>
              </a:ext>
            </a:extLst>
          </p:cNvPr>
          <p:cNvSpPr>
            <a:spLocks noGrp="1"/>
          </p:cNvSpPr>
          <p:nvPr/>
        </p:nvSpPr>
        <p:spPr>
          <a:xfrm>
            <a:off x="9334500" y="3676650"/>
            <a:ext cx="1771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таблица, отчет, приложение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CA744F-DCC2-4EEF-874E-D0AEECF92915}"/>
              </a:ext>
            </a:extLst>
          </p:cNvPr>
          <p:cNvSpPr>
            <a:spLocks noGrp="1"/>
          </p:cNvSpPr>
          <p:nvPr/>
        </p:nvSpPr>
        <p:spPr>
          <a:xfrm>
            <a:off x="388884" y="5092918"/>
            <a:ext cx="11414232" cy="733425"/>
          </a:xfrm>
          <a:prstGeom prst="rect">
            <a:avLst/>
          </a:prstGeom>
          <a:solidFill>
            <a:srgbClr val="EAF2FB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1CE8B4-E515-4860-93CE-A37C7424FAFE}"/>
              </a:ext>
            </a:extLst>
          </p:cNvPr>
          <p:cNvSpPr>
            <a:spLocks noGrp="1"/>
          </p:cNvSpPr>
          <p:nvPr/>
        </p:nvSpPr>
        <p:spPr>
          <a:xfrm>
            <a:off x="609599" y="5200650"/>
            <a:ext cx="1119351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R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может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участвовать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на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каждом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этапе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: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от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чтения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данных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до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публикации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1" dirty="0" err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результата</a:t>
            </a:r>
            <a:r>
              <a:rPr sz="2025" b="1" dirty="0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454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E6BE9E6-F35C-4CDE-B796-844624E0044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Четыре идеи помогают читать код R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7A67182-55B0-4D7F-89C4-EA55C49C4B9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8BB60-5BB2-4BD4-A424-E986B608CFE6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D6DB0B2-5CE3-4EB7-B05D-9C16ED17C4EA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3C892CC-C3FA-4DDE-B912-1B19DD4579D3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0" cy="440055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364D3EA-B2EA-439F-8834-E89BFDBD5FA5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1097280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3716AC-6853-40E4-93F6-E5D5CEE71AF8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800" b="1">
                <a:solidFill>
                  <a:srgbClr val="CBD8EA"/>
                </a:solidFill>
                <a:latin typeface="Menlo"/>
                <a:ea typeface="Menlo"/>
                <a:cs typeface="Menlo"/>
              </a:defRPr>
            </a:pPr>
            <a:r>
              <a:rPr sz="4800" b="1" dirty="0">
                <a:solidFill>
                  <a:srgbClr val="0070C0"/>
                </a:solidFill>
                <a:latin typeface="Menlo"/>
                <a:ea typeface="Menlo"/>
                <a:cs typeface="Menlo"/>
              </a:rPr>
              <a:t>&lt;-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A20FE-6A37-482F-AFBE-B0E0A5BC659D}"/>
              </a:ext>
            </a:extLst>
          </p:cNvPr>
          <p:cNvSpPr>
            <a:spLocks noGrp="1"/>
          </p:cNvSpPr>
          <p:nvPr/>
        </p:nvSpPr>
        <p:spPr>
          <a:xfrm>
            <a:off x="3524250" y="1543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Объект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973730-F197-40AD-8654-2A808C07A37C}"/>
              </a:ext>
            </a:extLst>
          </p:cNvPr>
          <p:cNvSpPr>
            <a:spLocks noGrp="1"/>
          </p:cNvSpPr>
          <p:nvPr/>
        </p:nvSpPr>
        <p:spPr>
          <a:xfrm>
            <a:off x="3524250" y="2038350"/>
            <a:ext cx="2457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Имя связывается со значением: x &lt;- 10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E8B95B-1A4D-43D9-88DA-3B0124DCE8F6}"/>
              </a:ext>
            </a:extLst>
          </p:cNvPr>
          <p:cNvSpPr>
            <a:spLocks noGrp="1"/>
          </p:cNvSpPr>
          <p:nvPr/>
        </p:nvSpPr>
        <p:spPr>
          <a:xfrm>
            <a:off x="6343650" y="148590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800" b="1">
                <a:solidFill>
                  <a:srgbClr val="CBD8EA"/>
                </a:solidFill>
                <a:latin typeface="Menlo"/>
                <a:ea typeface="Menlo"/>
                <a:cs typeface="Menlo"/>
              </a:defRPr>
            </a:pPr>
            <a:r>
              <a:rPr sz="4800" b="1" dirty="0">
                <a:solidFill>
                  <a:srgbClr val="0070C0"/>
                </a:solidFill>
                <a:latin typeface="Menlo"/>
                <a:ea typeface="Menlo"/>
                <a:cs typeface="Menlo"/>
              </a:rPr>
              <a:t>c()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81DB08-1BC2-43CB-8B34-A1A5799B8F87}"/>
              </a:ext>
            </a:extLst>
          </p:cNvPr>
          <p:cNvSpPr>
            <a:spLocks noGrp="1"/>
          </p:cNvSpPr>
          <p:nvPr/>
        </p:nvSpPr>
        <p:spPr>
          <a:xfrm>
            <a:off x="9258300" y="1543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Вектор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33949-383C-4CD8-9286-69D8FA5FC653}"/>
              </a:ext>
            </a:extLst>
          </p:cNvPr>
          <p:cNvSpPr>
            <a:spLocks noGrp="1"/>
          </p:cNvSpPr>
          <p:nvPr/>
        </p:nvSpPr>
        <p:spPr>
          <a:xfrm>
            <a:off x="9258300" y="2038350"/>
            <a:ext cx="2457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Одна операция применяется сразу к набору значений.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C1FED-FE6F-4B71-A8C7-F1270BD5E21A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800" b="1">
                <a:solidFill>
                  <a:srgbClr val="276DC3"/>
                </a:solidFill>
                <a:latin typeface="Menlo"/>
                <a:ea typeface="Menlo"/>
                <a:cs typeface="Menlo"/>
              </a:defRPr>
            </a:pPr>
            <a:r>
              <a:rPr lang="en-US" sz="3200" b="1" dirty="0">
                <a:solidFill>
                  <a:srgbClr val="276DC3"/>
                </a:solidFill>
                <a:latin typeface="Menlo"/>
                <a:ea typeface="Menlo"/>
                <a:cs typeface="Menlo"/>
              </a:rPr>
              <a:t>function</a:t>
            </a:r>
            <a:r>
              <a:rPr sz="3200" b="1" dirty="0">
                <a:solidFill>
                  <a:srgbClr val="276DC3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B66CFF-5EE5-4415-8B17-F6F171E1E7C8}"/>
              </a:ext>
            </a:extLst>
          </p:cNvPr>
          <p:cNvSpPr>
            <a:spLocks noGrp="1"/>
          </p:cNvSpPr>
          <p:nvPr/>
        </p:nvSpPr>
        <p:spPr>
          <a:xfrm>
            <a:off x="3524250" y="40195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Функция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7FDF7-BA57-4A73-8178-9D1BC1B796A3}"/>
              </a:ext>
            </a:extLst>
          </p:cNvPr>
          <p:cNvSpPr>
            <a:spLocks noGrp="1"/>
          </p:cNvSpPr>
          <p:nvPr/>
        </p:nvSpPr>
        <p:spPr>
          <a:xfrm>
            <a:off x="3524250" y="4514850"/>
            <a:ext cx="2457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Функция получает аргументы и возвращает результат.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ABC459-297A-488F-BD09-B7F040CD2D85}"/>
              </a:ext>
            </a:extLst>
          </p:cNvPr>
          <p:cNvSpPr>
            <a:spLocks noGrp="1"/>
          </p:cNvSpPr>
          <p:nvPr/>
        </p:nvSpPr>
        <p:spPr>
          <a:xfrm>
            <a:off x="6343650" y="3962400"/>
            <a:ext cx="266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CBD8EA"/>
                </a:solidFill>
                <a:latin typeface="Menlo"/>
                <a:ea typeface="Menlo"/>
                <a:cs typeface="Menlo"/>
              </a:defRPr>
            </a:pPr>
            <a:r>
              <a:rPr sz="3150" b="1" dirty="0">
                <a:solidFill>
                  <a:srgbClr val="0070C0"/>
                </a:solidFill>
                <a:latin typeface="Menlo"/>
                <a:ea typeface="Menlo"/>
                <a:cs typeface="Menlo"/>
              </a:rPr>
              <a:t>library()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E5AE16-BC16-47C6-8396-85C07F9DCB2B}"/>
              </a:ext>
            </a:extLst>
          </p:cNvPr>
          <p:cNvSpPr>
            <a:spLocks noGrp="1"/>
          </p:cNvSpPr>
          <p:nvPr/>
        </p:nvSpPr>
        <p:spPr>
          <a:xfrm>
            <a:off x="9258300" y="40195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Пакет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F46A02-23CE-4FC1-987F-032D1D8019ED}"/>
              </a:ext>
            </a:extLst>
          </p:cNvPr>
          <p:cNvSpPr>
            <a:spLocks noGrp="1"/>
          </p:cNvSpPr>
          <p:nvPr/>
        </p:nvSpPr>
        <p:spPr>
          <a:xfrm>
            <a:off x="9258300" y="4514850"/>
            <a:ext cx="2457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Пакет добавляет функции, данные и документацию.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178289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EDB208-C6BB-4E1F-8B8B-AAFB5FCBA02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Пять</a:t>
            </a:r>
            <a:r>
              <a:rPr sz="34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4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строк</a:t>
            </a:r>
            <a:r>
              <a:rPr sz="34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ru-RU" sz="34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делают</a:t>
            </a:r>
            <a:r>
              <a:rPr sz="34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4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вычисление</a:t>
            </a:r>
            <a:r>
              <a:rPr sz="34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4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34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4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график</a:t>
            </a:r>
            <a:endParaRPr sz="3450" b="1" dirty="0">
              <a:solidFill>
                <a:srgbClr val="11111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D261D90-A283-49C5-8B0B-C49745E39FE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CAFFB-125F-4187-9233-0FB25DD5C289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A870A-CBC5-4C02-A493-98130E6765D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562600" cy="434340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F57D2E-E00D-4CA5-A84E-F31C6C54A3EA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ПРИМЕР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3FF86A-ADD3-418B-BC7F-ED2B06D91064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49530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scores &lt;- c(72, 84, 91, 67, 88)</a:t>
            </a:r>
          </a:p>
          <a:p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mean(scores)</a:t>
            </a:r>
          </a:p>
          <a:p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 dirty="0">
                <a:solidFill>
                  <a:srgbClr val="111111">
                    <a:alpha val="69000"/>
                  </a:srgbClr>
                </a:solidFill>
                <a:latin typeface="Menlo"/>
                <a:ea typeface="Menlo"/>
                <a:cs typeface="Menlo"/>
              </a:rPr>
              <a:t># [1] 80.4</a:t>
            </a:r>
          </a:p>
          <a:p>
            <a:endParaRPr sz="1800" b="0" dirty="0">
              <a:solidFill>
                <a:srgbClr val="111111"/>
              </a:solidFill>
              <a:latin typeface="Menlo"/>
              <a:ea typeface="Menlo"/>
              <a:cs typeface="Menlo"/>
            </a:endParaRPr>
          </a:p>
          <a:p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names(scores) &lt;- LETTERS[1:5]</a:t>
            </a:r>
          </a:p>
          <a:p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 dirty="0" err="1">
                <a:solidFill>
                  <a:srgbClr val="111111"/>
                </a:solidFill>
                <a:latin typeface="Menlo"/>
                <a:ea typeface="Menlo"/>
                <a:cs typeface="Menlo"/>
              </a:rPr>
              <a:t>barplot</a:t>
            </a:r>
            <a:r>
              <a:rPr sz="1800" b="0" dirty="0">
                <a:solidFill>
                  <a:srgbClr val="111111"/>
                </a:solidFill>
                <a:latin typeface="Menlo"/>
                <a:ea typeface="Menlo"/>
                <a:cs typeface="Menlo"/>
              </a:rPr>
              <a:t>(scores, col = "#276DC3")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8176E-D12B-4F2B-AC8E-60AFF3778CEA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Данные → функция → результат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705600" y="1752600"/>
          <a:ext cx="47625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231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520E710-98A2-4FB6-B172-96AD28F552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Скрипт делает анализ воспроизводимым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26C0E6D-87AD-48E9-A635-5150416B3789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C8930C-A8F6-417B-BB60-635F05596838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E880B77-3521-4193-B693-44E8A6E9B1D8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0"/>
          </a:xfrm>
          <a:prstGeom prst="line">
            <a:avLst/>
          </a:prstGeom>
          <a:noFill/>
          <a:ln w="28575">
            <a:solidFill>
              <a:srgbClr val="A7A7A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D67A1-94E2-42D3-8371-3A8EB6F89E23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2857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AA370-88FE-4223-91ED-5896DCB47B12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6B983-EE53-48A9-AC8F-192C04F1C70E}"/>
              </a:ext>
            </a:extLst>
          </p:cNvPr>
          <p:cNvSpPr>
            <a:spLocks noGrp="1"/>
          </p:cNvSpPr>
          <p:nvPr/>
        </p:nvSpPr>
        <p:spPr>
          <a:xfrm>
            <a:off x="1123950" y="3219450"/>
            <a:ext cx="2324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исходные файлы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68DE3C-A966-458B-8098-4A1C22B32C4C}"/>
              </a:ext>
            </a:extLst>
          </p:cNvPr>
          <p:cNvSpPr>
            <a:spLocks noGrp="1"/>
          </p:cNvSpPr>
          <p:nvPr/>
        </p:nvSpPr>
        <p:spPr>
          <a:xfrm>
            <a:off x="4476750" y="2247900"/>
            <a:ext cx="2857500" cy="1809750"/>
          </a:xfrm>
          <a:prstGeom prst="rect">
            <a:avLst/>
          </a:prstGeom>
          <a:solidFill>
            <a:srgbClr val="EAF2FB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A6BBCA-3C5A-4E6C-8526-70CECE49ED71}"/>
              </a:ext>
            </a:extLst>
          </p:cNvPr>
          <p:cNvSpPr>
            <a:spLocks noGrp="1"/>
          </p:cNvSpPr>
          <p:nvPr/>
        </p:nvSpPr>
        <p:spPr>
          <a:xfrm>
            <a:off x="4743450" y="25717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Скрипт 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FB0912-4BE6-42BE-8982-6EA31F5B3577}"/>
              </a:ext>
            </a:extLst>
          </p:cNvPr>
          <p:cNvSpPr>
            <a:spLocks noGrp="1"/>
          </p:cNvSpPr>
          <p:nvPr/>
        </p:nvSpPr>
        <p:spPr>
          <a:xfrm>
            <a:off x="4743450" y="3219450"/>
            <a:ext cx="2324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все действия по порядку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C827DE-B2C5-4F26-82AD-ED81D641D90E}"/>
              </a:ext>
            </a:extLst>
          </p:cNvPr>
          <p:cNvSpPr>
            <a:spLocks noGrp="1"/>
          </p:cNvSpPr>
          <p:nvPr/>
        </p:nvSpPr>
        <p:spPr>
          <a:xfrm>
            <a:off x="8096250" y="2247900"/>
            <a:ext cx="2857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CA589-4B88-43BD-9A67-49CE0C1ACB05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E8BA7-5240-4A4E-851E-257E404D095A}"/>
              </a:ext>
            </a:extLst>
          </p:cNvPr>
          <p:cNvSpPr>
            <a:spLocks noGrp="1"/>
          </p:cNvSpPr>
          <p:nvPr/>
        </p:nvSpPr>
        <p:spPr>
          <a:xfrm>
            <a:off x="8362950" y="3219450"/>
            <a:ext cx="2324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таблица, график, отчет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406C3F-9C20-400A-B32A-EDAB356ED2B2}"/>
              </a:ext>
            </a:extLst>
          </p:cNvPr>
          <p:cNvSpPr>
            <a:spLocks noGrp="1"/>
          </p:cNvSpPr>
          <p:nvPr/>
        </p:nvSpPr>
        <p:spPr>
          <a:xfrm>
            <a:off x="1466850" y="48768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2348E-1CA7-4C71-8D00-B83F6A39FC4D}"/>
              </a:ext>
            </a:extLst>
          </p:cNvPr>
          <p:cNvSpPr>
            <a:spLocks noGrp="1"/>
          </p:cNvSpPr>
          <p:nvPr/>
        </p:nvSpPr>
        <p:spPr>
          <a:xfrm>
            <a:off x="2019300" y="48196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Можно</a:t>
            </a:r>
          </a:p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повторить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57542-EECA-4DBC-BC03-3A9E92049629}"/>
              </a:ext>
            </a:extLst>
          </p:cNvPr>
          <p:cNvSpPr>
            <a:spLocks noGrp="1"/>
          </p:cNvSpPr>
          <p:nvPr/>
        </p:nvSpPr>
        <p:spPr>
          <a:xfrm>
            <a:off x="4705350" y="48768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E28CAA-299A-46C2-9B6C-919C6811E412}"/>
              </a:ext>
            </a:extLst>
          </p:cNvPr>
          <p:cNvSpPr>
            <a:spLocks noGrp="1"/>
          </p:cNvSpPr>
          <p:nvPr/>
        </p:nvSpPr>
        <p:spPr>
          <a:xfrm>
            <a:off x="5257800" y="48196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Можно</a:t>
            </a:r>
          </a:p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C7204B-CE9D-43B5-90F4-82D519133BB3}"/>
              </a:ext>
            </a:extLst>
          </p:cNvPr>
          <p:cNvSpPr>
            <a:spLocks noGrp="1"/>
          </p:cNvSpPr>
          <p:nvPr/>
        </p:nvSpPr>
        <p:spPr>
          <a:xfrm>
            <a:off x="7943850" y="48768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FA1B0B-1CC4-4379-81BA-B6DAD9A40A78}"/>
              </a:ext>
            </a:extLst>
          </p:cNvPr>
          <p:cNvSpPr>
            <a:spLocks noGrp="1"/>
          </p:cNvSpPr>
          <p:nvPr/>
        </p:nvSpPr>
        <p:spPr>
          <a:xfrm>
            <a:off x="8496300" y="48196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Можно</a:t>
            </a:r>
          </a:p>
          <a:p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изменить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89DBDC-DE79-4C2F-8153-5515202B7FAD}"/>
              </a:ext>
            </a:extLst>
          </p:cNvPr>
          <p:cNvSpPr>
            <a:spLocks noGrp="1"/>
          </p:cNvSpPr>
          <p:nvPr/>
        </p:nvSpPr>
        <p:spPr>
          <a:xfrm>
            <a:off x="840259" y="5646524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Quarto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R Markdown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могут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объединить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код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объяснение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в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одном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документе</a:t>
            </a:r>
            <a:r>
              <a:rPr sz="165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074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052433C-28B1-4941-93E9-8E58110D601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 работает локально, в браузере и на сервере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3BF63AC-9418-4F5A-8548-19D579FD347E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DBBA4-5A95-4920-80BE-351C3DDD13CA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3A26B-ABE2-4FFE-B624-3887ED288D65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Ноутбук</a:t>
            </a:r>
            <a:endParaRPr sz="2700" b="1" dirty="0">
              <a:solidFill>
                <a:srgbClr val="11111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C420222-1FD3-4573-8E59-F4636F6E27CC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87630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A8D46-CAD5-46C9-9593-6C687A0B9C0E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R + IDE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5CE61-4E7B-4AF3-ABC8-860D91DF2C02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Учеба, исследование, небольшие и средние данные.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FEA4B41-4FC5-4671-B5A4-6DCBFCE80336}"/>
              </a:ext>
            </a:extLst>
          </p:cNvPr>
          <p:cNvSpPr>
            <a:spLocks noGrp="1"/>
          </p:cNvSpPr>
          <p:nvPr/>
        </p:nvSpPr>
        <p:spPr>
          <a:xfrm>
            <a:off x="3886200" y="1695450"/>
            <a:ext cx="0" cy="337185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A74099-00C5-4E1B-8E04-0AAC493870F9}"/>
              </a:ext>
            </a:extLst>
          </p:cNvPr>
          <p:cNvSpPr>
            <a:spLocks noGrp="1"/>
          </p:cNvSpPr>
          <p:nvPr/>
        </p:nvSpPr>
        <p:spPr>
          <a:xfrm>
            <a:off x="4267200" y="17526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Браузер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C9D3C2B-B127-45C6-81AA-17D600827C74}"/>
              </a:ext>
            </a:extLst>
          </p:cNvPr>
          <p:cNvSpPr>
            <a:spLocks noGrp="1"/>
          </p:cNvSpPr>
          <p:nvPr/>
        </p:nvSpPr>
        <p:spPr>
          <a:xfrm>
            <a:off x="4267200" y="2457450"/>
            <a:ext cx="876300" cy="0"/>
          </a:xfrm>
          <a:prstGeom prst="line">
            <a:avLst/>
          </a:prstGeom>
          <a:noFill/>
          <a:ln w="47625">
            <a:solidFill>
              <a:srgbClr val="276DC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D5017-AFB1-4621-AF55-9BD064A15D8C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облачная среда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D0BDE-334A-4824-8F53-C52BC81623FA}"/>
              </a:ext>
            </a:extLst>
          </p:cNvPr>
          <p:cNvSpPr>
            <a:spLocks noGrp="1"/>
          </p:cNvSpPr>
          <p:nvPr/>
        </p:nvSpPr>
        <p:spPr>
          <a:xfrm>
            <a:off x="4267200" y="354330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1725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Б</a:t>
            </a:r>
            <a:r>
              <a:rPr sz="17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ез</a:t>
            </a:r>
            <a:r>
              <a:rPr sz="17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установки</a:t>
            </a:r>
            <a:r>
              <a:rPr sz="17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lang="ru-RU" sz="17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общий </a:t>
            </a:r>
            <a:r>
              <a:rPr sz="17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сервер</a:t>
            </a:r>
            <a:r>
              <a:rPr sz="17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7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одинаковое</a:t>
            </a:r>
            <a:r>
              <a:rPr sz="17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окружение</a:t>
            </a:r>
            <a:r>
              <a:rPr sz="1725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1E2E26C-FF18-4FA7-8C87-F8BE0DE4C2B5}"/>
              </a:ext>
            </a:extLst>
          </p:cNvPr>
          <p:cNvSpPr>
            <a:spLocks noGrp="1"/>
          </p:cNvSpPr>
          <p:nvPr/>
        </p:nvSpPr>
        <p:spPr>
          <a:xfrm>
            <a:off x="7543800" y="1695450"/>
            <a:ext cx="0" cy="337185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BACFEF-C78A-40F3-9E71-03F5D5DF2A3B}"/>
              </a:ext>
            </a:extLst>
          </p:cNvPr>
          <p:cNvSpPr>
            <a:spLocks noGrp="1"/>
          </p:cNvSpPr>
          <p:nvPr/>
        </p:nvSpPr>
        <p:spPr>
          <a:xfrm>
            <a:off x="7924800" y="17526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Сервер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0EE0253-CDC1-4F4D-BC78-EF79295B3264}"/>
              </a:ext>
            </a:extLst>
          </p:cNvPr>
          <p:cNvSpPr>
            <a:spLocks noGrp="1"/>
          </p:cNvSpPr>
          <p:nvPr/>
        </p:nvSpPr>
        <p:spPr>
          <a:xfrm>
            <a:off x="7924800" y="2457450"/>
            <a:ext cx="876300" cy="0"/>
          </a:xfrm>
          <a:prstGeom prst="line">
            <a:avLst/>
          </a:prstGeom>
          <a:noFill/>
          <a:ln w="47625">
            <a:solidFill>
              <a:srgbClr val="11111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BFC6FD-A0A9-444D-A58C-04F000986340}"/>
              </a:ext>
            </a:extLst>
          </p:cNvPr>
          <p:cNvSpPr>
            <a:spLocks noGrp="1"/>
          </p:cNvSpPr>
          <p:nvPr/>
        </p:nvSpPr>
        <p:spPr>
          <a:xfrm>
            <a:off x="7924800" y="2800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скрипт или job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0275F1-CB15-46BC-AA69-3E9DFF810119}"/>
              </a:ext>
            </a:extLst>
          </p:cNvPr>
          <p:cNvSpPr>
            <a:spLocks noGrp="1"/>
          </p:cNvSpPr>
          <p:nvPr/>
        </p:nvSpPr>
        <p:spPr>
          <a:xfrm>
            <a:off x="7924800" y="354330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Долгие расчеты, большие данные, автоматический запуск.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DE1C3-636D-4351-8EC8-57D5316EEB01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2865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72900C-F6AB-40C5-B434-23496E31030E}"/>
              </a:ext>
            </a:extLst>
          </p:cNvPr>
          <p:cNvSpPr>
            <a:spLocks noGrp="1"/>
          </p:cNvSpPr>
          <p:nvPr/>
        </p:nvSpPr>
        <p:spPr>
          <a:xfrm>
            <a:off x="876300" y="5391149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Один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тот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же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язык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—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разные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вычислительные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95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ресурсы</a:t>
            </a:r>
            <a:r>
              <a:rPr sz="195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531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06B4710-7B91-4757-9582-9A510E9015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Начните с одного проекта и одного скрипта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ACEACFA-3C15-4B95-8F16-7BA1835E8AF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8204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D09A4-C4AD-4994-9FB6-3DC845D55490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D4B6E-289C-4384-BEA7-AFE03B6B101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12BD51-0895-4CC0-AC9E-5A36D5771CE7}"/>
              </a:ext>
            </a:extLst>
          </p:cNvPr>
          <p:cNvSpPr>
            <a:spLocks noGrp="1"/>
          </p:cNvSpPr>
          <p:nvPr/>
        </p:nvSpPr>
        <p:spPr>
          <a:xfrm>
            <a:off x="1371600" y="14478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Установите 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EA004-DFAF-4F8C-83DA-A6AAE9F82799}"/>
              </a:ext>
            </a:extLst>
          </p:cNvPr>
          <p:cNvSpPr>
            <a:spLocks noGrp="1"/>
          </p:cNvSpPr>
          <p:nvPr/>
        </p:nvSpPr>
        <p:spPr>
          <a:xfrm>
            <a:off x="4953000" y="14668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или используйте облачную среду курса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ACD0BB2-46C8-4969-B6B1-2F9B6F885E79}"/>
              </a:ext>
            </a:extLst>
          </p:cNvPr>
          <p:cNvSpPr>
            <a:spLocks noGrp="1"/>
          </p:cNvSpPr>
          <p:nvPr/>
        </p:nvSpPr>
        <p:spPr>
          <a:xfrm>
            <a:off x="1371600" y="2000250"/>
            <a:ext cx="967740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918C3E-A23E-4114-ADC3-FEEEC3FAFE0A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87B97F-0C85-49EA-B37F-D4D3F4914D73}"/>
              </a:ext>
            </a:extLst>
          </p:cNvPr>
          <p:cNvSpPr>
            <a:spLocks noGrp="1"/>
          </p:cNvSpPr>
          <p:nvPr/>
        </p:nvSpPr>
        <p:spPr>
          <a:xfrm>
            <a:off x="1371600" y="22860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Откройте 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C479CA-AD37-47E9-9190-B436387FF7EB}"/>
              </a:ext>
            </a:extLst>
          </p:cNvPr>
          <p:cNvSpPr>
            <a:spLocks noGrp="1"/>
          </p:cNvSpPr>
          <p:nvPr/>
        </p:nvSpPr>
        <p:spPr>
          <a:xfrm>
            <a:off x="4953000" y="23050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например RStudio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C6137E2-43A6-4CA5-868E-F1BECE77527D}"/>
              </a:ext>
            </a:extLst>
          </p:cNvPr>
          <p:cNvSpPr>
            <a:spLocks noGrp="1"/>
          </p:cNvSpPr>
          <p:nvPr/>
        </p:nvSpPr>
        <p:spPr>
          <a:xfrm>
            <a:off x="1371600" y="2838450"/>
            <a:ext cx="967740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E7D557-C79E-4B3D-9D4D-8F66DAFEFEF8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3996F0-892B-4F91-9EF3-872FCFB6F31D}"/>
              </a:ext>
            </a:extLst>
          </p:cNvPr>
          <p:cNvSpPr>
            <a:spLocks noGrp="1"/>
          </p:cNvSpPr>
          <p:nvPr/>
        </p:nvSpPr>
        <p:spPr>
          <a:xfrm>
            <a:off x="1371600" y="31242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Создайте проект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6043F-40A6-4472-9E41-2C8C3167BC6B}"/>
              </a:ext>
            </a:extLst>
          </p:cNvPr>
          <p:cNvSpPr>
            <a:spLocks noGrp="1"/>
          </p:cNvSpPr>
          <p:nvPr/>
        </p:nvSpPr>
        <p:spPr>
          <a:xfrm>
            <a:off x="4953000" y="31432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отдельная папка для данных и кода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85BFED9-9CAF-4F11-933F-B5979D37FE6E}"/>
              </a:ext>
            </a:extLst>
          </p:cNvPr>
          <p:cNvSpPr>
            <a:spLocks noGrp="1"/>
          </p:cNvSpPr>
          <p:nvPr/>
        </p:nvSpPr>
        <p:spPr>
          <a:xfrm>
            <a:off x="1371600" y="3676650"/>
            <a:ext cx="967740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C2DCED-C8FF-4ADF-AA58-E9DBD4691B72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7372EC-DAAB-49F1-A8EB-EB4D53A64A5B}"/>
              </a:ext>
            </a:extLst>
          </p:cNvPr>
          <p:cNvSpPr>
            <a:spLocks noGrp="1"/>
          </p:cNvSpPr>
          <p:nvPr/>
        </p:nvSpPr>
        <p:spPr>
          <a:xfrm>
            <a:off x="1371600" y="39624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Сохраните script.R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DEC730-8A53-42E1-BBE8-4E725A3913CE}"/>
              </a:ext>
            </a:extLst>
          </p:cNvPr>
          <p:cNvSpPr>
            <a:spLocks noGrp="1"/>
          </p:cNvSpPr>
          <p:nvPr/>
        </p:nvSpPr>
        <p:spPr>
          <a:xfrm>
            <a:off x="4953000" y="39814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пишите команды, которые стоит повторить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F4E5004-A09B-4E92-B29B-E9AD437BAEF8}"/>
              </a:ext>
            </a:extLst>
          </p:cNvPr>
          <p:cNvSpPr>
            <a:spLocks noGrp="1"/>
          </p:cNvSpPr>
          <p:nvPr/>
        </p:nvSpPr>
        <p:spPr>
          <a:xfrm>
            <a:off x="1371600" y="4514850"/>
            <a:ext cx="9677400" cy="0"/>
          </a:xfrm>
          <a:prstGeom prst="line">
            <a:avLst/>
          </a:prstGeom>
          <a:noFill/>
          <a:ln w="9525">
            <a:solidFill>
              <a:srgbClr val="D1D1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99D120-391A-4299-9C4D-CD65ED4BF4D0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299D85-064A-4CD2-8FF3-95EB24BBE19E}"/>
              </a:ext>
            </a:extLst>
          </p:cNvPr>
          <p:cNvSpPr>
            <a:spLocks noGrp="1"/>
          </p:cNvSpPr>
          <p:nvPr/>
        </p:nvSpPr>
        <p:spPr>
          <a:xfrm>
            <a:off x="1371600" y="48006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Запускайте и проверяйте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8D460-A7DE-44D8-9BD8-FF34E48AF307}"/>
              </a:ext>
            </a:extLst>
          </p:cNvPr>
          <p:cNvSpPr>
            <a:spLocks noGrp="1"/>
          </p:cNvSpPr>
          <p:nvPr/>
        </p:nvSpPr>
        <p:spPr>
          <a:xfrm>
            <a:off x="4953000" y="48196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строка за строкой, затем весь скрипт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7BC70-F534-4628-9A7C-F0DB6A1279AD}"/>
              </a:ext>
            </a:extLst>
          </p:cNvPr>
          <p:cNvSpPr>
            <a:spLocks noGrp="1"/>
          </p:cNvSpPr>
          <p:nvPr/>
        </p:nvSpPr>
        <p:spPr>
          <a:xfrm>
            <a:off x="7391400" y="5505448"/>
            <a:ext cx="3657600" cy="759427"/>
          </a:xfrm>
          <a:prstGeom prst="rect">
            <a:avLst/>
          </a:prstGeom>
          <a:solidFill>
            <a:srgbClr val="EAF2F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F84BC-A6F7-4562-886B-A380B341DA3E}"/>
              </a:ext>
            </a:extLst>
          </p:cNvPr>
          <p:cNvSpPr>
            <a:spLocks noGrp="1"/>
          </p:cNvSpPr>
          <p:nvPr/>
        </p:nvSpPr>
        <p:spPr>
          <a:xfrm>
            <a:off x="7620000" y="5543550"/>
            <a:ext cx="320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Первая полезная команда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07E831-2EE0-4577-A454-4E47F804A05E}"/>
              </a:ext>
            </a:extLst>
          </p:cNvPr>
          <p:cNvSpPr>
            <a:spLocks noGrp="1"/>
          </p:cNvSpPr>
          <p:nvPr/>
        </p:nvSpPr>
        <p:spPr>
          <a:xfrm>
            <a:off x="7620000" y="5829300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76DC3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276DC3"/>
                </a:solidFill>
                <a:latin typeface="Menlo"/>
                <a:ea typeface="Menlo"/>
                <a:cs typeface="Menlo"/>
              </a:rPr>
              <a:t>help(mean)</a:t>
            </a:r>
          </a:p>
        </p:txBody>
      </p:sp>
    </p:spTree>
    <p:extLst>
      <p:ext uri="{BB962C8B-B14F-4D97-AF65-F5344CB8AC3E}">
        <p14:creationId xmlns:p14="http://schemas.microsoft.com/office/powerpoint/2010/main" val="167747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9B87DC-23DD-4253-93B9-30134C6ABAB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6DC3"/>
                </a:solidFill>
                <a:latin typeface="Helvetica Neue"/>
                <a:ea typeface="Helvetica Neue"/>
                <a:cs typeface="Helvetica Neue"/>
              </a:rPr>
              <a:t>ГЛАВНАЯ ИДЕЯ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1A5B9B-9155-44B9-AF51-F976C7FF8CC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990600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Анализ в R — это текст,</a:t>
            </a:r>
          </a:p>
          <a:p>
            <a:pPr algn="l">
              <a:defRPr sz="4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который можно понять,</a:t>
            </a:r>
          </a:p>
          <a:p>
            <a:pPr algn="l">
              <a:defRPr sz="4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повторить и улучшить.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1ECA7E4-9747-46BA-95E7-03367BE856C4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714500" cy="0"/>
          </a:xfrm>
          <a:prstGeom prst="line">
            <a:avLst/>
          </a:prstGeom>
          <a:noFill/>
          <a:ln w="57150">
            <a:solidFill>
              <a:srgbClr val="276DC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681892-678C-44DE-8176-2795766D4096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Первое упражнение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DE830-D48E-4123-966A-603D4DD91FB8}"/>
              </a:ext>
            </a:extLst>
          </p:cNvPr>
          <p:cNvSpPr>
            <a:spLocks noGrp="1"/>
          </p:cNvSpPr>
          <p:nvPr/>
        </p:nvSpPr>
        <p:spPr>
          <a:xfrm>
            <a:off x="3695700" y="4438650"/>
            <a:ext cx="7886700" cy="125730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88A33-95F8-4D69-AF50-6D44E3F78482}"/>
              </a:ext>
            </a:extLst>
          </p:cNvPr>
          <p:cNvSpPr>
            <a:spLocks noGrp="1"/>
          </p:cNvSpPr>
          <p:nvPr/>
        </p:nvSpPr>
        <p:spPr>
          <a:xfrm>
            <a:off x="4019550" y="4743450"/>
            <a:ext cx="723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Измените числа в scores. Сначала предскажите, как изменятся среднее и график, затем проверьте в 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F4C92D-3C82-40DB-9050-3A21EB57ACD6}"/>
              </a:ext>
            </a:extLst>
          </p:cNvPr>
          <p:cNvSpPr>
            <a:spLocks noGrp="1"/>
          </p:cNvSpPr>
          <p:nvPr/>
        </p:nvSpPr>
        <p:spPr>
          <a:xfrm>
            <a:off x="11087100" y="64389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31213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1594</Words>
  <Application>Microsoft Macintosh PowerPoint</Application>
  <DocSecurity>0</DocSecurity>
  <PresentationFormat>Widescreen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Helvetica Neue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Станин Владислав Андреевич</cp:lastModifiedBy>
  <cp:revision>1</cp:revision>
  <dcterms:created xsi:type="dcterms:W3CDTF">2026-08-26T15:19:32Z</dcterms:created>
  <dcterms:modified xsi:type="dcterms:W3CDTF">2026-08-26T19:47:21Z</dcterms:modified>
</cp:coreProperties>
</file>